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1" dt="2026-09-15T23:15:37.77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2" name="Body Level One…"/>
          <p:cNvSpPr txBox="1">
            <a:spLocks noGrp="1"/>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21" name="Body Level One…"/>
          <p:cNvSpPr txBox="1">
            <a:spLocks noGrp="1"/>
          </p:cNvSpPr>
          <p:nvPr>
            <p:ph type="body" idx="1"/>
          </p:nvPr>
        </p:nvSpPr>
        <p:spPr>
          <a:xfrm>
            <a:off x="457200" y="1600200"/>
            <a:ext cx="8229600" cy="452596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722312" y="4406900"/>
            <a:ext cx="7772401" cy="1362075"/>
          </a:xfrm>
          <a:prstGeom prst="rect">
            <a:avLst/>
          </a:prstGeom>
        </p:spPr>
        <p:txBody>
          <a:bodyPr anchor="t"/>
          <a:lstStyle>
            <a:lvl1pPr algn="l">
              <a:defRPr sz="4000" b="1" cap="all"/>
            </a:lvl1pPr>
          </a:lstStyle>
          <a:p>
            <a:r>
              <a:t>Title Text</a:t>
            </a:r>
          </a:p>
        </p:txBody>
      </p:sp>
      <p:sp>
        <p:nvSpPr>
          <p:cNvPr id="30" name="Body Level One…"/>
          <p:cNvSpPr txBox="1">
            <a:spLocks noGrp="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39" name="Body Level One…"/>
          <p:cNvSpPr txBox="1">
            <a:spLocks noGrp="1"/>
          </p:cNvSpPr>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48" name="Body Level One…"/>
          <p:cNvSpPr txBox="1">
            <a:spLocks noGrp="1"/>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457200" y="273050"/>
            <a:ext cx="3008314" cy="1162050"/>
          </a:xfrm>
          <a:prstGeom prst="rect">
            <a:avLst/>
          </a:prstGeom>
        </p:spPr>
        <p:txBody>
          <a:bodyPr anchor="b"/>
          <a:lstStyle>
            <a:lvl1pPr algn="l">
              <a:defRPr sz="2000" b="1"/>
            </a:lvl1pPr>
          </a:lstStyle>
          <a:p>
            <a:r>
              <a:t>Title Text</a:t>
            </a:r>
          </a:p>
        </p:txBody>
      </p:sp>
      <p:sp>
        <p:nvSpPr>
          <p:cNvPr id="73" name="Body Level One…"/>
          <p:cNvSpPr txBox="1">
            <a:spLocks noGrp="1"/>
          </p:cNvSpPr>
          <p:nvPr>
            <p:ph type="body" sz="half"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1792288" y="4800600"/>
            <a:ext cx="5486401" cy="566738"/>
          </a:xfrm>
          <a:prstGeom prst="rect">
            <a:avLst/>
          </a:prstGeom>
        </p:spPr>
        <p:txBody>
          <a:bodyPr anchor="b"/>
          <a:lstStyle>
            <a:lvl1pPr algn="l">
              <a:defRPr sz="2000" b="1"/>
            </a:lvl1pPr>
          </a:lstStyle>
          <a:p>
            <a:r>
              <a:t>Title Text</a:t>
            </a:r>
          </a:p>
        </p:txBody>
      </p:sp>
      <p:sp>
        <p:nvSpPr>
          <p:cNvPr id="83" name="Picture Placeholder 2"/>
          <p:cNvSpPr>
            <a:spLocks noGrp="1"/>
          </p:cNvSpPr>
          <p:nvPr>
            <p:ph type="pic" sz="half" idx="21"/>
          </p:nvPr>
        </p:nvSpPr>
        <p:spPr>
          <a:xfrm>
            <a:off x="1792288" y="612775"/>
            <a:ext cx="5486401" cy="4114800"/>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8965" y="92074"/>
            <a:ext cx="1096137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1pPr>
      <a:lvl2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2pPr>
      <a:lvl3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3pPr>
      <a:lvl4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4pPr>
      <a:lvl5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5pPr>
      <a:lvl6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6pPr>
      <a:lvl7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7pPr>
      <a:lvl8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8pPr>
      <a:lvl9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4" name="Rounded Rectangle 1"/>
          <p:cNvSpPr/>
          <p:nvPr/>
        </p:nvSpPr>
        <p:spPr>
          <a:xfrm>
            <a:off x="594359" y="914400"/>
            <a:ext cx="10972801" cy="4754880"/>
          </a:xfrm>
          <a:prstGeom prst="roundRect">
            <a:avLst>
              <a:gd name="adj" fmla="val 16667"/>
            </a:avLst>
          </a:prstGeom>
          <a:solidFill>
            <a:srgbClr val="FFFFFF"/>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95" name="TextBox 2"/>
          <p:cNvSpPr txBox="1"/>
          <p:nvPr/>
        </p:nvSpPr>
        <p:spPr>
          <a:xfrm>
            <a:off x="2643129" y="2150769"/>
            <a:ext cx="6875262" cy="32600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ctr">
              <a:defRPr sz="3400" b="1">
                <a:solidFill>
                  <a:srgbClr val="193255"/>
                </a:solidFill>
              </a:defRPr>
            </a:pPr>
            <a:r>
              <a:t>Analysis of Student Learning Behavior</a:t>
            </a:r>
            <a:br/>
            <a:r>
              <a:t>and Academic Performance</a:t>
            </a:r>
          </a:p>
          <a:p>
            <a:pPr algn="ctr">
              <a:defRPr sz="3400" b="1">
                <a:solidFill>
                  <a:srgbClr val="193255"/>
                </a:solidFill>
              </a:defRPr>
            </a:pPr>
            <a:endParaRPr/>
          </a:p>
          <a:p>
            <a:pPr algn="ctr">
              <a:defRPr sz="1700" b="1" i="1">
                <a:solidFill>
                  <a:srgbClr val="193255"/>
                </a:solidFill>
              </a:defRPr>
            </a:pPr>
            <a:r>
              <a:t>-Mohammed Aiman Sadhik</a:t>
            </a:r>
          </a:p>
          <a:p>
            <a:pPr algn="ctr">
              <a:defRPr sz="1700" b="1" i="1">
                <a:solidFill>
                  <a:srgbClr val="193255"/>
                </a:solidFill>
              </a:defRPr>
            </a:pPr>
            <a:r>
              <a:t>57112524</a:t>
            </a:r>
          </a:p>
          <a:p>
            <a:pPr algn="ctr">
              <a:defRPr sz="3400" b="1">
                <a:solidFill>
                  <a:srgbClr val="193255"/>
                </a:solidFill>
              </a:defRPr>
            </a:pPr>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1"/>
          <p:cNvSpPr txBox="1"/>
          <p:nvPr/>
        </p:nvSpPr>
        <p:spPr>
          <a:xfrm>
            <a:off x="468134" y="184504"/>
            <a:ext cx="2550150" cy="4348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700" b="1" u="sng">
                <a:solidFill>
                  <a:srgbClr val="193255"/>
                </a:solidFill>
              </a:defRPr>
            </a:lvl1pPr>
          </a:lstStyle>
          <a:p>
            <a:r>
              <a:t>Project Overview</a:t>
            </a:r>
          </a:p>
        </p:txBody>
      </p:sp>
      <p:sp>
        <p:nvSpPr>
          <p:cNvPr id="98" name="Rectangle 2"/>
          <p:cNvSpPr/>
          <p:nvPr/>
        </p:nvSpPr>
        <p:spPr>
          <a:xfrm>
            <a:off x="387912" y="735570"/>
            <a:ext cx="11155681" cy="27433"/>
          </a:xfrm>
          <a:prstGeom prst="rect">
            <a:avLst/>
          </a:prstGeom>
          <a:solidFill>
            <a:srgbClr val="DCE2E8"/>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99" name="Rounded Rectangle 3"/>
          <p:cNvSpPr/>
          <p:nvPr/>
        </p:nvSpPr>
        <p:spPr>
          <a:xfrm>
            <a:off x="433066" y="1007555"/>
            <a:ext cx="3474721" cy="1828801"/>
          </a:xfrm>
          <a:prstGeom prst="roundRect">
            <a:avLst>
              <a:gd name="adj" fmla="val 16667"/>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00" name="Rectangle 4"/>
          <p:cNvSpPr/>
          <p:nvPr/>
        </p:nvSpPr>
        <p:spPr>
          <a:xfrm>
            <a:off x="421565" y="1007555"/>
            <a:ext cx="64009" cy="1828801"/>
          </a:xfrm>
          <a:prstGeom prst="rect">
            <a:avLst/>
          </a:prstGeom>
          <a:solidFill>
            <a:srgbClr val="377DC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01" name="TextBox 5"/>
          <p:cNvSpPr txBox="1"/>
          <p:nvPr/>
        </p:nvSpPr>
        <p:spPr>
          <a:xfrm>
            <a:off x="668452" y="1080398"/>
            <a:ext cx="1007044"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u="sng">
                <a:solidFill>
                  <a:srgbClr val="193255"/>
                </a:solidFill>
              </a:defRPr>
            </a:lvl1pPr>
          </a:lstStyle>
          <a:p>
            <a:r>
              <a:t>Objective</a:t>
            </a:r>
          </a:p>
        </p:txBody>
      </p:sp>
      <p:sp>
        <p:nvSpPr>
          <p:cNvPr id="102" name="TextBox 6"/>
          <p:cNvSpPr txBox="1"/>
          <p:nvPr/>
        </p:nvSpPr>
        <p:spPr>
          <a:xfrm>
            <a:off x="638806" y="1530000"/>
            <a:ext cx="3063240" cy="966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b="1" i="1">
                <a:solidFill>
                  <a:srgbClr val="28282D"/>
                </a:solidFill>
              </a:defRPr>
            </a:lvl1pPr>
          </a:lstStyle>
          <a:p>
            <a:r>
              <a:t>Analyse how learning habits, engagement, resources, motivation, stress, and other behavioral factors are associated with academic performance.</a:t>
            </a:r>
          </a:p>
        </p:txBody>
      </p:sp>
      <p:sp>
        <p:nvSpPr>
          <p:cNvPr id="103" name="Rounded Rectangle 7"/>
          <p:cNvSpPr/>
          <p:nvPr/>
        </p:nvSpPr>
        <p:spPr>
          <a:xfrm>
            <a:off x="457826" y="3015816"/>
            <a:ext cx="3474721" cy="1828801"/>
          </a:xfrm>
          <a:prstGeom prst="roundRect">
            <a:avLst>
              <a:gd name="adj" fmla="val 16667"/>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04" name="Rectangle 8"/>
          <p:cNvSpPr/>
          <p:nvPr/>
        </p:nvSpPr>
        <p:spPr>
          <a:xfrm>
            <a:off x="421565" y="3080908"/>
            <a:ext cx="64009" cy="1828801"/>
          </a:xfrm>
          <a:prstGeom prst="rect">
            <a:avLst/>
          </a:prstGeom>
          <a:solidFill>
            <a:srgbClr val="3F965C"/>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05" name="TextBox 9"/>
          <p:cNvSpPr txBox="1"/>
          <p:nvPr/>
        </p:nvSpPr>
        <p:spPr>
          <a:xfrm>
            <a:off x="663566" y="3262456"/>
            <a:ext cx="832804"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u="sng">
                <a:solidFill>
                  <a:srgbClr val="193255"/>
                </a:solidFill>
              </a:defRPr>
            </a:lvl1pPr>
          </a:lstStyle>
          <a:p>
            <a:r>
              <a:t>Dataset</a:t>
            </a:r>
          </a:p>
        </p:txBody>
      </p:sp>
      <p:sp>
        <p:nvSpPr>
          <p:cNvPr id="106" name="TextBox 10"/>
          <p:cNvSpPr txBox="1"/>
          <p:nvPr/>
        </p:nvSpPr>
        <p:spPr>
          <a:xfrm>
            <a:off x="638806" y="3626308"/>
            <a:ext cx="3063240" cy="738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b="1" i="1">
                <a:solidFill>
                  <a:srgbClr val="28282D"/>
                </a:solidFill>
              </a:defRPr>
            </a:lvl1pPr>
          </a:lstStyle>
          <a:p>
            <a:r>
              <a:t>Kaggle Student Performance and Learning Behavior Dataset: 14,003 records, 16 attributes.</a:t>
            </a:r>
          </a:p>
        </p:txBody>
      </p:sp>
      <p:sp>
        <p:nvSpPr>
          <p:cNvPr id="107" name="Rounded Rectangle 11"/>
          <p:cNvSpPr/>
          <p:nvPr/>
        </p:nvSpPr>
        <p:spPr>
          <a:xfrm>
            <a:off x="433066" y="5024077"/>
            <a:ext cx="3474721" cy="1828801"/>
          </a:xfrm>
          <a:prstGeom prst="roundRect">
            <a:avLst>
              <a:gd name="adj" fmla="val 16667"/>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08" name="Rectangle 12"/>
          <p:cNvSpPr/>
          <p:nvPr/>
        </p:nvSpPr>
        <p:spPr>
          <a:xfrm>
            <a:off x="421565" y="5024077"/>
            <a:ext cx="64009" cy="1828801"/>
          </a:xfrm>
          <a:prstGeom prst="rect">
            <a:avLst/>
          </a:prstGeom>
          <a:solidFill>
            <a:srgbClr val="7D5ABE"/>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09" name="TextBox 13"/>
          <p:cNvSpPr txBox="1"/>
          <p:nvPr/>
        </p:nvSpPr>
        <p:spPr>
          <a:xfrm>
            <a:off x="772114" y="5146946"/>
            <a:ext cx="976124"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u="sng">
                <a:solidFill>
                  <a:srgbClr val="193255"/>
                </a:solidFill>
              </a:defRPr>
            </a:lvl1pPr>
          </a:lstStyle>
          <a:p>
            <a:r>
              <a:t>Outcome</a:t>
            </a:r>
          </a:p>
        </p:txBody>
      </p:sp>
      <p:sp>
        <p:nvSpPr>
          <p:cNvPr id="110" name="TextBox 14"/>
          <p:cNvSpPr txBox="1"/>
          <p:nvPr/>
        </p:nvSpPr>
        <p:spPr>
          <a:xfrm>
            <a:off x="753891" y="5494016"/>
            <a:ext cx="3063240" cy="966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b="1" i="1">
                <a:solidFill>
                  <a:srgbClr val="28282D"/>
                </a:solidFill>
              </a:defRPr>
            </a:lvl1pPr>
          </a:lstStyle>
          <a:p>
            <a:r>
              <a:t>Primary outcome: ExamScore. FinalGrade is treated as a derived outcome and excluded from the regression predictors.</a:t>
            </a:r>
          </a:p>
        </p:txBody>
      </p:sp>
      <p:sp>
        <p:nvSpPr>
          <p:cNvPr id="111" name="TextBox 15"/>
          <p:cNvSpPr txBox="1"/>
          <p:nvPr/>
        </p:nvSpPr>
        <p:spPr>
          <a:xfrm>
            <a:off x="4969736" y="1370149"/>
            <a:ext cx="10222993" cy="44692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p>
            <a:pPr marL="240631" indent="-240631">
              <a:spcBef>
                <a:spcPts val="1000"/>
              </a:spcBef>
              <a:buSzPct val="100000"/>
              <a:buAutoNum type="arabicPeriod"/>
              <a:defRPr b="1" i="1">
                <a:solidFill>
                  <a:srgbClr val="28282D"/>
                </a:solidFill>
              </a:defRPr>
            </a:pPr>
            <a:r>
              <a:t>Data collection and understanding.</a:t>
            </a:r>
          </a:p>
          <a:p>
            <a:pPr>
              <a:spcBef>
                <a:spcPts val="1000"/>
              </a:spcBef>
              <a:defRPr b="1" i="1">
                <a:solidFill>
                  <a:srgbClr val="28282D"/>
                </a:solidFill>
              </a:defRPr>
            </a:pPr>
            <a:endParaRPr/>
          </a:p>
          <a:p>
            <a:pPr>
              <a:spcBef>
                <a:spcPts val="1000"/>
              </a:spcBef>
              <a:defRPr b="1" i="1">
                <a:solidFill>
                  <a:srgbClr val="28282D"/>
                </a:solidFill>
              </a:defRPr>
            </a:pPr>
            <a:r>
              <a:t>2. Cleaning and duplicate removal.</a:t>
            </a:r>
          </a:p>
          <a:p>
            <a:pPr>
              <a:spcBef>
                <a:spcPts val="1000"/>
              </a:spcBef>
              <a:defRPr b="1" i="1">
                <a:solidFill>
                  <a:srgbClr val="28282D"/>
                </a:solidFill>
              </a:defRPr>
            </a:pPr>
            <a:endParaRPr/>
          </a:p>
          <a:p>
            <a:pPr>
              <a:spcBef>
                <a:spcPts val="1000"/>
              </a:spcBef>
              <a:defRPr b="1" i="1">
                <a:solidFill>
                  <a:srgbClr val="28282D"/>
                </a:solidFill>
              </a:defRPr>
            </a:pPr>
            <a:r>
              <a:t>3.EDA and visualisation.</a:t>
            </a:r>
          </a:p>
          <a:p>
            <a:pPr>
              <a:spcBef>
                <a:spcPts val="1000"/>
              </a:spcBef>
              <a:defRPr b="1" i="1">
                <a:solidFill>
                  <a:srgbClr val="28282D"/>
                </a:solidFill>
              </a:defRPr>
            </a:pPr>
            <a:endParaRPr/>
          </a:p>
          <a:p>
            <a:pPr>
              <a:spcBef>
                <a:spcPts val="1000"/>
              </a:spcBef>
              <a:defRPr b="1" i="1">
                <a:solidFill>
                  <a:srgbClr val="28282D"/>
                </a:solidFill>
              </a:defRPr>
            </a:pPr>
            <a:r>
              <a:t>4. Correlation and statistical testing.</a:t>
            </a:r>
          </a:p>
          <a:p>
            <a:pPr>
              <a:spcBef>
                <a:spcPts val="1000"/>
              </a:spcBef>
              <a:defRPr b="1" i="1">
                <a:solidFill>
                  <a:srgbClr val="28282D"/>
                </a:solidFill>
              </a:defRPr>
            </a:pPr>
            <a:endParaRPr/>
          </a:p>
          <a:p>
            <a:pPr>
              <a:spcBef>
                <a:spcPts val="1000"/>
              </a:spcBef>
              <a:defRPr b="1" i="1">
                <a:solidFill>
                  <a:srgbClr val="28282D"/>
                </a:solidFill>
              </a:defRPr>
            </a:pPr>
            <a:r>
              <a:t>5.Multiple linear regression.</a:t>
            </a:r>
          </a:p>
          <a:p>
            <a:pPr>
              <a:spcBef>
                <a:spcPts val="1000"/>
              </a:spcBef>
              <a:defRPr b="1" i="1">
                <a:solidFill>
                  <a:srgbClr val="28282D"/>
                </a:solidFill>
              </a:defRPr>
            </a:pPr>
            <a:endParaRPr/>
          </a:p>
          <a:p>
            <a:pPr>
              <a:spcBef>
                <a:spcPts val="1000"/>
              </a:spcBef>
              <a:defRPr b="1" i="1">
                <a:solidFill>
                  <a:srgbClr val="28282D"/>
                </a:solidFill>
              </a:defRPr>
            </a:pPr>
            <a:r>
              <a:t>6. Power BI dashboard and reporting.</a:t>
            </a:r>
          </a:p>
        </p:txBody>
      </p:sp>
      <p:sp>
        <p:nvSpPr>
          <p:cNvPr id="112" name="TextBox 16"/>
          <p:cNvSpPr txBox="1"/>
          <p:nvPr/>
        </p:nvSpPr>
        <p:spPr>
          <a:xfrm>
            <a:off x="11405088" y="6446520"/>
            <a:ext cx="162072"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900">
                <a:solidFill>
                  <a:srgbClr val="5F6978"/>
                </a:solidFill>
              </a:defRPr>
            </a:lvl1pPr>
          </a:lstStyle>
          <a:p>
            <a:r>
              <a:t>2</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Box 1"/>
          <p:cNvSpPr txBox="1"/>
          <p:nvPr/>
        </p:nvSpPr>
        <p:spPr>
          <a:xfrm>
            <a:off x="548639" y="228600"/>
            <a:ext cx="6059350" cy="434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700" b="1" u="sng">
                <a:solidFill>
                  <a:srgbClr val="193255"/>
                </a:solidFill>
              </a:defRPr>
            </a:lvl1pPr>
          </a:lstStyle>
          <a:p>
            <a:r>
              <a:t>Problem Statement &amp; Research Questions</a:t>
            </a:r>
          </a:p>
        </p:txBody>
      </p:sp>
      <p:sp>
        <p:nvSpPr>
          <p:cNvPr id="115" name="Rectangle 2"/>
          <p:cNvSpPr/>
          <p:nvPr/>
        </p:nvSpPr>
        <p:spPr>
          <a:xfrm>
            <a:off x="511809" y="879048"/>
            <a:ext cx="11155682" cy="27433"/>
          </a:xfrm>
          <a:prstGeom prst="rect">
            <a:avLst/>
          </a:prstGeom>
          <a:solidFill>
            <a:srgbClr val="DCE2E8"/>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16" name="Rounded Rectangle 3"/>
          <p:cNvSpPr/>
          <p:nvPr/>
        </p:nvSpPr>
        <p:spPr>
          <a:xfrm>
            <a:off x="640079" y="1167751"/>
            <a:ext cx="5294376" cy="2429640"/>
          </a:xfrm>
          <a:prstGeom prst="roundRect">
            <a:avLst>
              <a:gd name="adj" fmla="val 30109"/>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17" name="Rectangle 4"/>
          <p:cNvSpPr/>
          <p:nvPr/>
        </p:nvSpPr>
        <p:spPr>
          <a:xfrm>
            <a:off x="562080" y="1247944"/>
            <a:ext cx="54999" cy="2269253"/>
          </a:xfrm>
          <a:prstGeom prst="rect">
            <a:avLst/>
          </a:prstGeom>
          <a:solidFill>
            <a:srgbClr val="377DC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18" name="TextBox 5"/>
          <p:cNvSpPr txBox="1"/>
          <p:nvPr/>
        </p:nvSpPr>
        <p:spPr>
          <a:xfrm>
            <a:off x="886966" y="1444752"/>
            <a:ext cx="1959594"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b="1" u="sng">
                <a:solidFill>
                  <a:srgbClr val="193255"/>
                </a:solidFill>
              </a:defRPr>
            </a:lvl1pPr>
          </a:lstStyle>
          <a:p>
            <a:r>
              <a:t>Problem Statement</a:t>
            </a:r>
          </a:p>
        </p:txBody>
      </p:sp>
      <p:sp>
        <p:nvSpPr>
          <p:cNvPr id="119" name="TextBox 6"/>
          <p:cNvSpPr txBox="1"/>
          <p:nvPr/>
        </p:nvSpPr>
        <p:spPr>
          <a:xfrm>
            <a:off x="881875" y="1874803"/>
            <a:ext cx="4800601" cy="14237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b="1" i="1">
                <a:solidFill>
                  <a:srgbClr val="28282D"/>
                </a:solidFill>
              </a:defRPr>
            </a:lvl1pPr>
          </a:lstStyle>
          <a:p>
            <a:r>
              <a:t>Educational institutions collect large amounts of student-related data, but identifying which learning and behavioral factors are associated with academic performance can be challenging. This project investigates relationships between study hours, attendance, assignment completion, motivation, stress, and academic performance.</a:t>
            </a:r>
          </a:p>
        </p:txBody>
      </p:sp>
      <p:sp>
        <p:nvSpPr>
          <p:cNvPr id="120" name="Rounded Rectangle 7"/>
          <p:cNvSpPr/>
          <p:nvPr/>
        </p:nvSpPr>
        <p:spPr>
          <a:xfrm>
            <a:off x="6208775" y="3376159"/>
            <a:ext cx="5461964" cy="2720658"/>
          </a:xfrm>
          <a:prstGeom prst="roundRect">
            <a:avLst>
              <a:gd name="adj" fmla="val 27455"/>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21" name="Rectangle 8"/>
          <p:cNvSpPr/>
          <p:nvPr/>
        </p:nvSpPr>
        <p:spPr>
          <a:xfrm>
            <a:off x="6178263" y="3601861"/>
            <a:ext cx="54999" cy="2269253"/>
          </a:xfrm>
          <a:prstGeom prst="rect">
            <a:avLst/>
          </a:prstGeom>
          <a:solidFill>
            <a:srgbClr val="E18C2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22" name="TextBox 9"/>
          <p:cNvSpPr txBox="1"/>
          <p:nvPr/>
        </p:nvSpPr>
        <p:spPr>
          <a:xfrm>
            <a:off x="6523807" y="3572391"/>
            <a:ext cx="1967098"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u="sng">
                <a:solidFill>
                  <a:srgbClr val="193255"/>
                </a:solidFill>
              </a:defRPr>
            </a:lvl1pPr>
          </a:lstStyle>
          <a:p>
            <a:r>
              <a:t>Research Questions</a:t>
            </a:r>
          </a:p>
        </p:txBody>
      </p:sp>
      <p:sp>
        <p:nvSpPr>
          <p:cNvPr id="123" name="TextBox 10"/>
          <p:cNvSpPr txBox="1"/>
          <p:nvPr/>
        </p:nvSpPr>
        <p:spPr>
          <a:xfrm>
            <a:off x="6470877" y="3910288"/>
            <a:ext cx="4937760" cy="1881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1400" b="1" i="1">
                <a:solidFill>
                  <a:srgbClr val="28282D"/>
                </a:solidFill>
              </a:defRPr>
            </a:pPr>
            <a:r>
              <a:t>1. How does study time relate to academic performance?</a:t>
            </a:r>
            <a:br/>
            <a:r>
              <a:t>2. What relationship exists between attendance and exam scores?</a:t>
            </a:r>
            <a:br/>
            <a:r>
              <a:t>3. Does assignment completion show an association with performance?</a:t>
            </a:r>
            <a:br/>
            <a:r>
              <a:t>4. How are motivation and stress associated with performance?</a:t>
            </a:r>
            <a:br/>
            <a:r>
              <a:t>5. Which learning and behavioral factors show the strongest relationship?</a:t>
            </a:r>
          </a:p>
        </p:txBody>
      </p:sp>
      <p:sp>
        <p:nvSpPr>
          <p:cNvPr id="124" name="TextBox 11"/>
          <p:cNvSpPr txBox="1"/>
          <p:nvPr/>
        </p:nvSpPr>
        <p:spPr>
          <a:xfrm>
            <a:off x="11405088" y="6446520"/>
            <a:ext cx="162072"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900">
                <a:solidFill>
                  <a:srgbClr val="5F6978"/>
                </a:solidFill>
              </a:defRPr>
            </a:lvl1pPr>
          </a:lstStyle>
          <a:p>
            <a:r>
              <a:t>3</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extBox 1"/>
          <p:cNvSpPr txBox="1"/>
          <p:nvPr/>
        </p:nvSpPr>
        <p:spPr>
          <a:xfrm>
            <a:off x="548639" y="228600"/>
            <a:ext cx="3376593" cy="434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700" b="1">
                <a:solidFill>
                  <a:srgbClr val="193255"/>
                </a:solidFill>
              </a:defRPr>
            </a:lvl1pPr>
          </a:lstStyle>
          <a:p>
            <a:r>
              <a:t>Dataset &amp; Data Quality</a:t>
            </a:r>
          </a:p>
        </p:txBody>
      </p:sp>
      <p:sp>
        <p:nvSpPr>
          <p:cNvPr id="127" name="Rectangle 2"/>
          <p:cNvSpPr/>
          <p:nvPr/>
        </p:nvSpPr>
        <p:spPr>
          <a:xfrm>
            <a:off x="511809" y="781195"/>
            <a:ext cx="11155682" cy="27433"/>
          </a:xfrm>
          <a:prstGeom prst="rect">
            <a:avLst/>
          </a:prstGeom>
          <a:solidFill>
            <a:srgbClr val="DCE2E8"/>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28" name="Rounded Rectangle 3"/>
          <p:cNvSpPr/>
          <p:nvPr/>
        </p:nvSpPr>
        <p:spPr>
          <a:xfrm>
            <a:off x="731520" y="1040766"/>
            <a:ext cx="2194561" cy="1234440"/>
          </a:xfrm>
          <a:prstGeom prst="roundRect">
            <a:avLst>
              <a:gd name="adj" fmla="val 16667"/>
            </a:avLst>
          </a:prstGeom>
          <a:solidFill>
            <a:srgbClr val="FFFFFF"/>
          </a:solidFill>
          <a:ln>
            <a:solidFill>
              <a:srgbClr val="D7DEE6"/>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29" name="TextBox 4"/>
          <p:cNvSpPr txBox="1"/>
          <p:nvPr/>
        </p:nvSpPr>
        <p:spPr>
          <a:xfrm>
            <a:off x="1280313" y="1319736"/>
            <a:ext cx="1096974" cy="4447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2800" b="1">
                <a:solidFill>
                  <a:srgbClr val="377DCD"/>
                </a:solidFill>
              </a:defRPr>
            </a:lvl1pPr>
          </a:lstStyle>
          <a:p>
            <a:r>
              <a:t>14,003</a:t>
            </a:r>
          </a:p>
        </p:txBody>
      </p:sp>
      <p:sp>
        <p:nvSpPr>
          <p:cNvPr id="130" name="TextBox 5"/>
          <p:cNvSpPr txBox="1"/>
          <p:nvPr/>
        </p:nvSpPr>
        <p:spPr>
          <a:xfrm>
            <a:off x="1287011" y="1744021"/>
            <a:ext cx="1083579"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200">
                <a:solidFill>
                  <a:srgbClr val="5F6978"/>
                </a:solidFill>
              </a:defRPr>
            </a:lvl1pPr>
          </a:lstStyle>
          <a:p>
            <a:r>
              <a:t>Original records</a:t>
            </a:r>
          </a:p>
        </p:txBody>
      </p:sp>
      <p:sp>
        <p:nvSpPr>
          <p:cNvPr id="131" name="Rounded Rectangle 6"/>
          <p:cNvSpPr/>
          <p:nvPr/>
        </p:nvSpPr>
        <p:spPr>
          <a:xfrm>
            <a:off x="731520" y="2457114"/>
            <a:ext cx="2194561" cy="1234441"/>
          </a:xfrm>
          <a:prstGeom prst="roundRect">
            <a:avLst>
              <a:gd name="adj" fmla="val 16667"/>
            </a:avLst>
          </a:prstGeom>
          <a:solidFill>
            <a:srgbClr val="FFFFFF"/>
          </a:solidFill>
          <a:ln>
            <a:solidFill>
              <a:srgbClr val="D7DEE6"/>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32" name="TextBox 7"/>
          <p:cNvSpPr txBox="1"/>
          <p:nvPr/>
        </p:nvSpPr>
        <p:spPr>
          <a:xfrm>
            <a:off x="1370429" y="2652511"/>
            <a:ext cx="916742" cy="4447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2800" b="1">
                <a:solidFill>
                  <a:srgbClr val="CD5050"/>
                </a:solidFill>
              </a:defRPr>
            </a:lvl1pPr>
          </a:lstStyle>
          <a:p>
            <a:r>
              <a:t>1,534</a:t>
            </a:r>
          </a:p>
        </p:txBody>
      </p:sp>
      <p:sp>
        <p:nvSpPr>
          <p:cNvPr id="133" name="TextBox 8"/>
          <p:cNvSpPr txBox="1"/>
          <p:nvPr/>
        </p:nvSpPr>
        <p:spPr>
          <a:xfrm>
            <a:off x="1281541" y="3074334"/>
            <a:ext cx="1094518"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200">
                <a:solidFill>
                  <a:srgbClr val="5F6978"/>
                </a:solidFill>
              </a:defRPr>
            </a:lvl1pPr>
          </a:lstStyle>
          <a:p>
            <a:r>
              <a:t>Exact duplicates</a:t>
            </a:r>
          </a:p>
        </p:txBody>
      </p:sp>
      <p:sp>
        <p:nvSpPr>
          <p:cNvPr id="134" name="Rounded Rectangle 9"/>
          <p:cNvSpPr/>
          <p:nvPr/>
        </p:nvSpPr>
        <p:spPr>
          <a:xfrm>
            <a:off x="731520" y="3926169"/>
            <a:ext cx="2194561" cy="1234441"/>
          </a:xfrm>
          <a:prstGeom prst="roundRect">
            <a:avLst>
              <a:gd name="adj" fmla="val 16667"/>
            </a:avLst>
          </a:prstGeom>
          <a:solidFill>
            <a:srgbClr val="FFFFFF"/>
          </a:solidFill>
          <a:ln>
            <a:solidFill>
              <a:srgbClr val="D7DEE6"/>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35" name="TextBox 10"/>
          <p:cNvSpPr txBox="1"/>
          <p:nvPr/>
        </p:nvSpPr>
        <p:spPr>
          <a:xfrm>
            <a:off x="1190192" y="4149962"/>
            <a:ext cx="1096973" cy="4447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2800" b="1">
                <a:solidFill>
                  <a:srgbClr val="3F965C"/>
                </a:solidFill>
              </a:defRPr>
            </a:lvl1pPr>
          </a:lstStyle>
          <a:p>
            <a:r>
              <a:t>12,469</a:t>
            </a:r>
          </a:p>
        </p:txBody>
      </p:sp>
      <p:sp>
        <p:nvSpPr>
          <p:cNvPr id="136" name="TextBox 11"/>
          <p:cNvSpPr txBox="1"/>
          <p:nvPr/>
        </p:nvSpPr>
        <p:spPr>
          <a:xfrm>
            <a:off x="1188257" y="4559497"/>
            <a:ext cx="1100843"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200">
                <a:solidFill>
                  <a:srgbClr val="5F6978"/>
                </a:solidFill>
              </a:defRPr>
            </a:lvl1pPr>
          </a:lstStyle>
          <a:p>
            <a:r>
              <a:t>Cleaned records</a:t>
            </a:r>
          </a:p>
        </p:txBody>
      </p:sp>
      <p:sp>
        <p:nvSpPr>
          <p:cNvPr id="137" name="Rounded Rectangle 12"/>
          <p:cNvSpPr/>
          <p:nvPr/>
        </p:nvSpPr>
        <p:spPr>
          <a:xfrm>
            <a:off x="731520" y="5426805"/>
            <a:ext cx="2194561" cy="1234441"/>
          </a:xfrm>
          <a:prstGeom prst="roundRect">
            <a:avLst>
              <a:gd name="adj" fmla="val 16667"/>
            </a:avLst>
          </a:prstGeom>
          <a:solidFill>
            <a:srgbClr val="FFFFFF"/>
          </a:solidFill>
          <a:ln>
            <a:solidFill>
              <a:srgbClr val="D7DEE6"/>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38" name="TextBox 13"/>
          <p:cNvSpPr txBox="1"/>
          <p:nvPr/>
        </p:nvSpPr>
        <p:spPr>
          <a:xfrm>
            <a:off x="1596492" y="5647413"/>
            <a:ext cx="284372" cy="4447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2800" b="1">
                <a:solidFill>
                  <a:srgbClr val="7D5ABE"/>
                </a:solidFill>
              </a:defRPr>
            </a:lvl1pPr>
          </a:lstStyle>
          <a:p>
            <a:r>
              <a:t>0</a:t>
            </a:r>
          </a:p>
        </p:txBody>
      </p:sp>
      <p:sp>
        <p:nvSpPr>
          <p:cNvPr id="139" name="TextBox 14"/>
          <p:cNvSpPr txBox="1"/>
          <p:nvPr/>
        </p:nvSpPr>
        <p:spPr>
          <a:xfrm>
            <a:off x="1328831" y="6044026"/>
            <a:ext cx="999938" cy="248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200">
                <a:solidFill>
                  <a:srgbClr val="5F6978"/>
                </a:solidFill>
              </a:defRPr>
            </a:lvl1pPr>
          </a:lstStyle>
          <a:p>
            <a:r>
              <a:t>Missing values</a:t>
            </a:r>
          </a:p>
        </p:txBody>
      </p:sp>
      <p:sp>
        <p:nvSpPr>
          <p:cNvPr id="140" name="Rounded Rectangle 15"/>
          <p:cNvSpPr/>
          <p:nvPr/>
        </p:nvSpPr>
        <p:spPr>
          <a:xfrm>
            <a:off x="3483609" y="3703721"/>
            <a:ext cx="4791076" cy="2289464"/>
          </a:xfrm>
          <a:prstGeom prst="roundRect">
            <a:avLst>
              <a:gd name="adj" fmla="val 17745"/>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41" name="Rectangle 16"/>
          <p:cNvSpPr/>
          <p:nvPr/>
        </p:nvSpPr>
        <p:spPr>
          <a:xfrm>
            <a:off x="3465193" y="3805310"/>
            <a:ext cx="64009" cy="2086287"/>
          </a:xfrm>
          <a:prstGeom prst="rect">
            <a:avLst/>
          </a:prstGeom>
          <a:solidFill>
            <a:srgbClr val="377DC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42" name="TextBox 17"/>
          <p:cNvSpPr txBox="1"/>
          <p:nvPr/>
        </p:nvSpPr>
        <p:spPr>
          <a:xfrm>
            <a:off x="4867647" y="3963501"/>
            <a:ext cx="1697284" cy="3825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300" b="1" u="sng">
                <a:solidFill>
                  <a:srgbClr val="193255"/>
                </a:solidFill>
              </a:defRPr>
            </a:lvl1pPr>
          </a:lstStyle>
          <a:p>
            <a:r>
              <a:t>Key variables</a:t>
            </a:r>
          </a:p>
        </p:txBody>
      </p:sp>
      <p:sp>
        <p:nvSpPr>
          <p:cNvPr id="143" name="TextBox 18"/>
          <p:cNvSpPr txBox="1"/>
          <p:nvPr/>
        </p:nvSpPr>
        <p:spPr>
          <a:xfrm>
            <a:off x="4190851" y="4505203"/>
            <a:ext cx="3376593" cy="966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b="1" i="1">
                <a:solidFill>
                  <a:srgbClr val="28282D"/>
                </a:solidFill>
              </a:defRPr>
            </a:lvl1pPr>
          </a:lstStyle>
          <a:p>
            <a:r>
              <a:t>StudyHours, Attendance, Motivation, LearningStyle, OnlineCourses, Discussions, AssignmentCompletion, ExamScore, EduTech, StressLevel and FinalGrade.</a:t>
            </a:r>
          </a:p>
        </p:txBody>
      </p:sp>
      <p:sp>
        <p:nvSpPr>
          <p:cNvPr id="144" name="Rounded Rectangle 19"/>
          <p:cNvSpPr/>
          <p:nvPr/>
        </p:nvSpPr>
        <p:spPr>
          <a:xfrm>
            <a:off x="7276095" y="1040766"/>
            <a:ext cx="4303320" cy="2289463"/>
          </a:xfrm>
          <a:prstGeom prst="roundRect">
            <a:avLst>
              <a:gd name="adj" fmla="val 17676"/>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45" name="Rectangle 20"/>
          <p:cNvSpPr/>
          <p:nvPr/>
        </p:nvSpPr>
        <p:spPr>
          <a:xfrm>
            <a:off x="7245160" y="1036003"/>
            <a:ext cx="64009" cy="2268329"/>
          </a:xfrm>
          <a:prstGeom prst="rect">
            <a:avLst/>
          </a:prstGeom>
          <a:solidFill>
            <a:srgbClr val="3F965C"/>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46" name="TextBox 21"/>
          <p:cNvSpPr txBox="1"/>
          <p:nvPr/>
        </p:nvSpPr>
        <p:spPr>
          <a:xfrm>
            <a:off x="8206229" y="1350828"/>
            <a:ext cx="2211311" cy="3825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300" b="1" u="sng">
                <a:solidFill>
                  <a:srgbClr val="193255"/>
                </a:solidFill>
              </a:defRPr>
            </a:lvl1pPr>
          </a:lstStyle>
          <a:p>
            <a:r>
              <a:t>Cleaning decision</a:t>
            </a:r>
          </a:p>
        </p:txBody>
      </p:sp>
      <p:sp>
        <p:nvSpPr>
          <p:cNvPr id="147" name="TextBox 22"/>
          <p:cNvSpPr txBox="1"/>
          <p:nvPr/>
        </p:nvSpPr>
        <p:spPr>
          <a:xfrm>
            <a:off x="7786071" y="1884962"/>
            <a:ext cx="3515110" cy="966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b="1" i="1">
                <a:solidFill>
                  <a:srgbClr val="28282D"/>
                </a:solidFill>
              </a:defRPr>
            </a:lvl1pPr>
          </a:lstStyle>
          <a:p>
            <a:r>
              <a:t>Exact duplicate rows were removed. FinalGrade is strongly tied to ExamScore, so it is treated as a derived outcome rather than an independent regression predictor.</a:t>
            </a:r>
          </a:p>
        </p:txBody>
      </p:sp>
      <p:sp>
        <p:nvSpPr>
          <p:cNvPr id="148" name="TextBox 23"/>
          <p:cNvSpPr txBox="1"/>
          <p:nvPr/>
        </p:nvSpPr>
        <p:spPr>
          <a:xfrm>
            <a:off x="11405088" y="6446520"/>
            <a:ext cx="162072"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900">
                <a:solidFill>
                  <a:srgbClr val="5F6978"/>
                </a:solidFill>
              </a:defRPr>
            </a:lvl1pPr>
          </a:lstStyle>
          <a:p>
            <a:r>
              <a:t>4</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extBox 1"/>
          <p:cNvSpPr txBox="1"/>
          <p:nvPr/>
        </p:nvSpPr>
        <p:spPr>
          <a:xfrm>
            <a:off x="558904" y="498965"/>
            <a:ext cx="3819952" cy="434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700" b="1" u="sng">
                <a:solidFill>
                  <a:srgbClr val="193255"/>
                </a:solidFill>
              </a:defRPr>
            </a:lvl1pPr>
          </a:lstStyle>
          <a:p>
            <a:r>
              <a:t>Methodology &amp; Workflow</a:t>
            </a:r>
          </a:p>
        </p:txBody>
      </p:sp>
      <p:sp>
        <p:nvSpPr>
          <p:cNvPr id="151" name="Rectangle 2"/>
          <p:cNvSpPr/>
          <p:nvPr/>
        </p:nvSpPr>
        <p:spPr>
          <a:xfrm>
            <a:off x="502919" y="1051560"/>
            <a:ext cx="11155682" cy="27433"/>
          </a:xfrm>
          <a:prstGeom prst="rect">
            <a:avLst/>
          </a:prstGeom>
          <a:solidFill>
            <a:srgbClr val="DCE2E8"/>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52" name="Chevron 3"/>
          <p:cNvSpPr/>
          <p:nvPr/>
        </p:nvSpPr>
        <p:spPr>
          <a:xfrm>
            <a:off x="502917" y="2349720"/>
            <a:ext cx="1097281" cy="685801"/>
          </a:xfrm>
          <a:prstGeom prst="chevron">
            <a:avLst>
              <a:gd name="adj" fmla="val 50000"/>
            </a:avLst>
          </a:prstGeom>
          <a:solidFill>
            <a:srgbClr val="377DC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53" name="TextBox 4"/>
          <p:cNvSpPr txBox="1"/>
          <p:nvPr/>
        </p:nvSpPr>
        <p:spPr>
          <a:xfrm>
            <a:off x="453030" y="3030375"/>
            <a:ext cx="986748" cy="2257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100" b="1">
                <a:solidFill>
                  <a:srgbClr val="193255"/>
                </a:solidFill>
              </a:defRPr>
            </a:lvl1pPr>
          </a:lstStyle>
          <a:p>
            <a:r>
              <a:t>Data Collection</a:t>
            </a:r>
          </a:p>
        </p:txBody>
      </p:sp>
      <p:sp>
        <p:nvSpPr>
          <p:cNvPr id="154" name="Chevron 5"/>
          <p:cNvSpPr/>
          <p:nvPr/>
        </p:nvSpPr>
        <p:spPr>
          <a:xfrm>
            <a:off x="1783079" y="2331720"/>
            <a:ext cx="1097281" cy="685801"/>
          </a:xfrm>
          <a:prstGeom prst="chevron">
            <a:avLst>
              <a:gd name="adj" fmla="val 50000"/>
            </a:avLst>
          </a:prstGeom>
          <a:solidFill>
            <a:srgbClr val="3F965C"/>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55" name="TextBox 6"/>
          <p:cNvSpPr txBox="1"/>
          <p:nvPr/>
        </p:nvSpPr>
        <p:spPr>
          <a:xfrm>
            <a:off x="1584583" y="2091014"/>
            <a:ext cx="1262532" cy="2257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100" b="1">
                <a:solidFill>
                  <a:srgbClr val="193255"/>
                </a:solidFill>
              </a:defRPr>
            </a:lvl1pPr>
          </a:lstStyle>
          <a:p>
            <a:r>
              <a:t>Data Understanding</a:t>
            </a:r>
          </a:p>
        </p:txBody>
      </p:sp>
      <p:sp>
        <p:nvSpPr>
          <p:cNvPr id="156" name="Chevron 7"/>
          <p:cNvSpPr/>
          <p:nvPr/>
        </p:nvSpPr>
        <p:spPr>
          <a:xfrm>
            <a:off x="3063238" y="2331720"/>
            <a:ext cx="1097282" cy="685801"/>
          </a:xfrm>
          <a:prstGeom prst="chevron">
            <a:avLst>
              <a:gd name="adj" fmla="val 50000"/>
            </a:avLst>
          </a:prstGeom>
          <a:solidFill>
            <a:srgbClr val="E18C2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57" name="TextBox 8"/>
          <p:cNvSpPr txBox="1"/>
          <p:nvPr/>
        </p:nvSpPr>
        <p:spPr>
          <a:xfrm>
            <a:off x="3069004" y="3030375"/>
            <a:ext cx="905506" cy="2257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100" b="1">
                <a:solidFill>
                  <a:srgbClr val="193255"/>
                </a:solidFill>
              </a:defRPr>
            </a:lvl1pPr>
          </a:lstStyle>
          <a:p>
            <a:r>
              <a:t>Data Cleaning</a:t>
            </a:r>
          </a:p>
        </p:txBody>
      </p:sp>
      <p:sp>
        <p:nvSpPr>
          <p:cNvPr id="158" name="Chevron 9"/>
          <p:cNvSpPr/>
          <p:nvPr/>
        </p:nvSpPr>
        <p:spPr>
          <a:xfrm>
            <a:off x="4343398" y="2331720"/>
            <a:ext cx="1097281" cy="685801"/>
          </a:xfrm>
          <a:prstGeom prst="chevron">
            <a:avLst>
              <a:gd name="adj" fmla="val 50000"/>
            </a:avLst>
          </a:prstGeom>
          <a:solidFill>
            <a:srgbClr val="7D5ABE"/>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59" name="TextBox 10"/>
          <p:cNvSpPr txBox="1"/>
          <p:nvPr/>
        </p:nvSpPr>
        <p:spPr>
          <a:xfrm>
            <a:off x="4566681" y="2091014"/>
            <a:ext cx="341726" cy="2257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100" b="1">
                <a:solidFill>
                  <a:srgbClr val="193255"/>
                </a:solidFill>
              </a:defRPr>
            </a:lvl1pPr>
          </a:lstStyle>
          <a:p>
            <a:r>
              <a:t>EDA</a:t>
            </a:r>
          </a:p>
        </p:txBody>
      </p:sp>
      <p:sp>
        <p:nvSpPr>
          <p:cNvPr id="160" name="Chevron 11"/>
          <p:cNvSpPr/>
          <p:nvPr/>
        </p:nvSpPr>
        <p:spPr>
          <a:xfrm>
            <a:off x="5623559" y="2331720"/>
            <a:ext cx="1097281" cy="685801"/>
          </a:xfrm>
          <a:prstGeom prst="chevron">
            <a:avLst>
              <a:gd name="adj" fmla="val 50000"/>
            </a:avLst>
          </a:prstGeom>
          <a:solidFill>
            <a:srgbClr val="377DC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61" name="TextBox 12"/>
          <p:cNvSpPr txBox="1"/>
          <p:nvPr/>
        </p:nvSpPr>
        <p:spPr>
          <a:xfrm>
            <a:off x="5743882" y="3030375"/>
            <a:ext cx="756052" cy="2257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100" b="1">
                <a:solidFill>
                  <a:srgbClr val="193255"/>
                </a:solidFill>
              </a:defRPr>
            </a:lvl1pPr>
          </a:lstStyle>
          <a:p>
            <a:r>
              <a:t>Correlation</a:t>
            </a:r>
          </a:p>
        </p:txBody>
      </p:sp>
      <p:sp>
        <p:nvSpPr>
          <p:cNvPr id="162" name="Chevron 13"/>
          <p:cNvSpPr/>
          <p:nvPr/>
        </p:nvSpPr>
        <p:spPr>
          <a:xfrm>
            <a:off x="6903719" y="2331720"/>
            <a:ext cx="1097281" cy="685801"/>
          </a:xfrm>
          <a:prstGeom prst="chevron">
            <a:avLst>
              <a:gd name="adj" fmla="val 50000"/>
            </a:avLst>
          </a:prstGeom>
          <a:solidFill>
            <a:srgbClr val="CD5050"/>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63" name="TextBox 14"/>
          <p:cNvSpPr txBox="1"/>
          <p:nvPr/>
        </p:nvSpPr>
        <p:spPr>
          <a:xfrm>
            <a:off x="6738119" y="2091014"/>
            <a:ext cx="1170991" cy="2257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100" b="1">
                <a:solidFill>
                  <a:srgbClr val="193255"/>
                </a:solidFill>
              </a:defRPr>
            </a:lvl1pPr>
          </a:lstStyle>
          <a:p>
            <a:r>
              <a:t>Statistical Analysis</a:t>
            </a:r>
          </a:p>
        </p:txBody>
      </p:sp>
      <p:sp>
        <p:nvSpPr>
          <p:cNvPr id="164" name="Chevron 15"/>
          <p:cNvSpPr/>
          <p:nvPr/>
        </p:nvSpPr>
        <p:spPr>
          <a:xfrm>
            <a:off x="8183878" y="2331720"/>
            <a:ext cx="1097281" cy="685801"/>
          </a:xfrm>
          <a:prstGeom prst="chevron">
            <a:avLst>
              <a:gd name="adj" fmla="val 50000"/>
            </a:avLst>
          </a:prstGeom>
          <a:solidFill>
            <a:srgbClr val="3F965C"/>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65" name="TextBox 16"/>
          <p:cNvSpPr txBox="1"/>
          <p:nvPr/>
        </p:nvSpPr>
        <p:spPr>
          <a:xfrm>
            <a:off x="8314615" y="3030375"/>
            <a:ext cx="731563" cy="2257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100" b="1">
                <a:solidFill>
                  <a:srgbClr val="193255"/>
                </a:solidFill>
              </a:defRPr>
            </a:lvl1pPr>
          </a:lstStyle>
          <a:p>
            <a:r>
              <a:t>Regression</a:t>
            </a:r>
          </a:p>
        </p:txBody>
      </p:sp>
      <p:sp>
        <p:nvSpPr>
          <p:cNvPr id="166" name="Chevron 17"/>
          <p:cNvSpPr/>
          <p:nvPr/>
        </p:nvSpPr>
        <p:spPr>
          <a:xfrm>
            <a:off x="9464040" y="2331720"/>
            <a:ext cx="1097281" cy="685801"/>
          </a:xfrm>
          <a:prstGeom prst="chevron">
            <a:avLst>
              <a:gd name="adj" fmla="val 50000"/>
            </a:avLst>
          </a:prstGeom>
          <a:solidFill>
            <a:srgbClr val="E18C2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67" name="TextBox 18"/>
          <p:cNvSpPr txBox="1"/>
          <p:nvPr/>
        </p:nvSpPr>
        <p:spPr>
          <a:xfrm>
            <a:off x="9410652" y="2091014"/>
            <a:ext cx="843569" cy="2257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100" b="1">
                <a:solidFill>
                  <a:srgbClr val="193255"/>
                </a:solidFill>
              </a:defRPr>
            </a:lvl1pPr>
          </a:lstStyle>
          <a:p>
            <a:r>
              <a:t>Visualization</a:t>
            </a:r>
          </a:p>
        </p:txBody>
      </p:sp>
      <p:sp>
        <p:nvSpPr>
          <p:cNvPr id="168" name="Rounded Rectangle 19"/>
          <p:cNvSpPr/>
          <p:nvPr/>
        </p:nvSpPr>
        <p:spPr>
          <a:xfrm>
            <a:off x="10744200" y="2331720"/>
            <a:ext cx="1097281" cy="685801"/>
          </a:xfrm>
          <a:prstGeom prst="roundRect">
            <a:avLst>
              <a:gd name="adj" fmla="val 16667"/>
            </a:avLst>
          </a:prstGeom>
          <a:solidFill>
            <a:srgbClr val="7D5ABE"/>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69" name="TextBox 20"/>
          <p:cNvSpPr txBox="1"/>
          <p:nvPr/>
        </p:nvSpPr>
        <p:spPr>
          <a:xfrm>
            <a:off x="10604241" y="3146245"/>
            <a:ext cx="1377198" cy="2257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100" b="1">
                <a:solidFill>
                  <a:srgbClr val="193255"/>
                </a:solidFill>
              </a:defRPr>
            </a:lvl1pPr>
          </a:lstStyle>
          <a:p>
            <a:r>
              <a:t>Findings &amp; Conclusion</a:t>
            </a:r>
          </a:p>
        </p:txBody>
      </p:sp>
      <p:sp>
        <p:nvSpPr>
          <p:cNvPr id="170" name="Rounded Rectangle 21"/>
          <p:cNvSpPr/>
          <p:nvPr/>
        </p:nvSpPr>
        <p:spPr>
          <a:xfrm>
            <a:off x="914400" y="3749038"/>
            <a:ext cx="3108961" cy="1463041"/>
          </a:xfrm>
          <a:prstGeom prst="roundRect">
            <a:avLst>
              <a:gd name="adj" fmla="val 16667"/>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71" name="Rectangle 22"/>
          <p:cNvSpPr/>
          <p:nvPr/>
        </p:nvSpPr>
        <p:spPr>
          <a:xfrm>
            <a:off x="914400" y="3749038"/>
            <a:ext cx="64008" cy="1463042"/>
          </a:xfrm>
          <a:prstGeom prst="rect">
            <a:avLst/>
          </a:prstGeom>
          <a:solidFill>
            <a:srgbClr val="377DC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72" name="TextBox 23"/>
          <p:cNvSpPr txBox="1"/>
          <p:nvPr/>
        </p:nvSpPr>
        <p:spPr>
          <a:xfrm>
            <a:off x="1161287" y="3867910"/>
            <a:ext cx="1912515" cy="333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u="sng">
                <a:solidFill>
                  <a:srgbClr val="193255"/>
                </a:solidFill>
              </a:defRPr>
            </a:lvl1pPr>
          </a:lstStyle>
          <a:p>
            <a:r>
              <a:t>Statistical methods</a:t>
            </a:r>
          </a:p>
        </p:txBody>
      </p:sp>
      <p:sp>
        <p:nvSpPr>
          <p:cNvPr id="173" name="TextBox 24"/>
          <p:cNvSpPr txBox="1"/>
          <p:nvPr/>
        </p:nvSpPr>
        <p:spPr>
          <a:xfrm>
            <a:off x="1161287" y="4366259"/>
            <a:ext cx="2697482" cy="509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b="1" i="1">
                <a:solidFill>
                  <a:srgbClr val="28282D"/>
                </a:solidFill>
              </a:defRPr>
            </a:lvl1pPr>
          </a:lstStyle>
          <a:p>
            <a:r>
              <a:t>Pearson correlation, one-way ANOVA, Tukey HSD post-hoc test.</a:t>
            </a:r>
          </a:p>
        </p:txBody>
      </p:sp>
      <p:sp>
        <p:nvSpPr>
          <p:cNvPr id="174" name="Rounded Rectangle 25"/>
          <p:cNvSpPr/>
          <p:nvPr/>
        </p:nvSpPr>
        <p:spPr>
          <a:xfrm>
            <a:off x="4526279" y="3749038"/>
            <a:ext cx="3108961" cy="1463041"/>
          </a:xfrm>
          <a:prstGeom prst="roundRect">
            <a:avLst>
              <a:gd name="adj" fmla="val 16667"/>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75" name="Rectangle 26"/>
          <p:cNvSpPr/>
          <p:nvPr/>
        </p:nvSpPr>
        <p:spPr>
          <a:xfrm>
            <a:off x="4526279" y="3749038"/>
            <a:ext cx="64009" cy="1463042"/>
          </a:xfrm>
          <a:prstGeom prst="rect">
            <a:avLst/>
          </a:prstGeom>
          <a:solidFill>
            <a:srgbClr val="3F965C"/>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76" name="TextBox 27"/>
          <p:cNvSpPr txBox="1"/>
          <p:nvPr/>
        </p:nvSpPr>
        <p:spPr>
          <a:xfrm>
            <a:off x="4773167" y="3867910"/>
            <a:ext cx="1705011" cy="333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u="sng">
                <a:solidFill>
                  <a:srgbClr val="193255"/>
                </a:solidFill>
              </a:defRPr>
            </a:lvl1pPr>
          </a:lstStyle>
          <a:p>
            <a:r>
              <a:t>Predictive model</a:t>
            </a:r>
          </a:p>
        </p:txBody>
      </p:sp>
      <p:sp>
        <p:nvSpPr>
          <p:cNvPr id="177" name="TextBox 28"/>
          <p:cNvSpPr txBox="1"/>
          <p:nvPr/>
        </p:nvSpPr>
        <p:spPr>
          <a:xfrm>
            <a:off x="4773167" y="4251959"/>
            <a:ext cx="2697482" cy="738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b="1" i="1">
                <a:solidFill>
                  <a:srgbClr val="28282D"/>
                </a:solidFill>
              </a:defRPr>
            </a:lvl1pPr>
          </a:lstStyle>
          <a:p>
            <a:r>
              <a:t>Multiple linear regression with an 80/20 train-test split and random_state=42.</a:t>
            </a:r>
          </a:p>
        </p:txBody>
      </p:sp>
      <p:sp>
        <p:nvSpPr>
          <p:cNvPr id="178" name="Rounded Rectangle 29"/>
          <p:cNvSpPr/>
          <p:nvPr/>
        </p:nvSpPr>
        <p:spPr>
          <a:xfrm>
            <a:off x="8138159" y="3749038"/>
            <a:ext cx="3108961" cy="1463041"/>
          </a:xfrm>
          <a:prstGeom prst="roundRect">
            <a:avLst>
              <a:gd name="adj" fmla="val 16667"/>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79" name="Rectangle 30"/>
          <p:cNvSpPr/>
          <p:nvPr/>
        </p:nvSpPr>
        <p:spPr>
          <a:xfrm>
            <a:off x="8138159" y="3749038"/>
            <a:ext cx="64009" cy="1463042"/>
          </a:xfrm>
          <a:prstGeom prst="rect">
            <a:avLst/>
          </a:prstGeom>
          <a:solidFill>
            <a:srgbClr val="7D5ABE"/>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80" name="TextBox 31"/>
          <p:cNvSpPr txBox="1"/>
          <p:nvPr/>
        </p:nvSpPr>
        <p:spPr>
          <a:xfrm>
            <a:off x="8385047" y="3867910"/>
            <a:ext cx="590698" cy="333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u="sng">
                <a:solidFill>
                  <a:srgbClr val="193255"/>
                </a:solidFill>
              </a:defRPr>
            </a:lvl1pPr>
          </a:lstStyle>
          <a:p>
            <a:r>
              <a:t>Tools</a:t>
            </a:r>
          </a:p>
        </p:txBody>
      </p:sp>
      <p:sp>
        <p:nvSpPr>
          <p:cNvPr id="181" name="TextBox 32"/>
          <p:cNvSpPr txBox="1"/>
          <p:nvPr/>
        </p:nvSpPr>
        <p:spPr>
          <a:xfrm>
            <a:off x="8343900" y="4251959"/>
            <a:ext cx="2697481" cy="966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b="1" i="1">
                <a:solidFill>
                  <a:srgbClr val="28282D"/>
                </a:solidFill>
              </a:defRPr>
            </a:lvl1pPr>
          </a:lstStyle>
          <a:p>
            <a:r>
              <a:t>Python, Pandas, NumPy, Matplotlib, Seaborn, SciPy, Statsmodels, Scikit-learn, Power BI, GitHub.</a:t>
            </a:r>
          </a:p>
        </p:txBody>
      </p:sp>
      <p:sp>
        <p:nvSpPr>
          <p:cNvPr id="182" name="TextBox 33"/>
          <p:cNvSpPr txBox="1"/>
          <p:nvPr/>
        </p:nvSpPr>
        <p:spPr>
          <a:xfrm>
            <a:off x="11405088" y="6446520"/>
            <a:ext cx="162072"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900">
                <a:solidFill>
                  <a:srgbClr val="5F6978"/>
                </a:solidFill>
              </a:defRPr>
            </a:lvl1pPr>
          </a:lstStyle>
          <a:p>
            <a:r>
              <a:t>5</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TextBox 1"/>
          <p:cNvSpPr txBox="1"/>
          <p:nvPr/>
        </p:nvSpPr>
        <p:spPr>
          <a:xfrm>
            <a:off x="548639" y="228600"/>
            <a:ext cx="4146109" cy="434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700" b="1" u="sng">
                <a:solidFill>
                  <a:srgbClr val="193255"/>
                </a:solidFill>
              </a:defRPr>
            </a:lvl1pPr>
          </a:lstStyle>
          <a:p>
            <a:r>
              <a:t>Data Cleaning &amp; Preparation</a:t>
            </a:r>
          </a:p>
        </p:txBody>
      </p:sp>
      <p:sp>
        <p:nvSpPr>
          <p:cNvPr id="185" name="Rectangle 2"/>
          <p:cNvSpPr/>
          <p:nvPr/>
        </p:nvSpPr>
        <p:spPr>
          <a:xfrm>
            <a:off x="511809" y="755445"/>
            <a:ext cx="11155682" cy="27433"/>
          </a:xfrm>
          <a:prstGeom prst="rect">
            <a:avLst/>
          </a:prstGeom>
          <a:solidFill>
            <a:srgbClr val="DCE2E8"/>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86" name="TextBox 3"/>
          <p:cNvSpPr txBox="1"/>
          <p:nvPr/>
        </p:nvSpPr>
        <p:spPr>
          <a:xfrm>
            <a:off x="383543" y="4000121"/>
            <a:ext cx="6611113" cy="2569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p>
            <a:pPr>
              <a:spcBef>
                <a:spcPts val="1000"/>
              </a:spcBef>
              <a:defRPr b="1" i="1">
                <a:solidFill>
                  <a:srgbClr val="28282D"/>
                </a:solidFill>
              </a:defRPr>
            </a:pPr>
            <a:r>
              <a:t>• </a:t>
            </a:r>
            <a:r>
              <a:rPr sz="1600"/>
              <a:t>Loaded the Kaggle CSV into a Pandas DataFrame.</a:t>
            </a:r>
          </a:p>
          <a:p>
            <a:pPr>
              <a:spcBef>
                <a:spcPts val="1000"/>
              </a:spcBef>
              <a:defRPr sz="1600" b="1" i="1">
                <a:solidFill>
                  <a:srgbClr val="28282D"/>
                </a:solidFill>
              </a:defRPr>
            </a:pPr>
            <a:r>
              <a:t>• Inspected structure, data types, ranges and descriptive statistics.</a:t>
            </a:r>
          </a:p>
          <a:p>
            <a:pPr>
              <a:spcBef>
                <a:spcPts val="1000"/>
              </a:spcBef>
              <a:defRPr sz="1600" b="1" i="1">
                <a:solidFill>
                  <a:srgbClr val="28282D"/>
                </a:solidFill>
              </a:defRPr>
            </a:pPr>
            <a:r>
              <a:t>• Checked every column for missing values: none were found.</a:t>
            </a:r>
          </a:p>
          <a:p>
            <a:pPr>
              <a:spcBef>
                <a:spcPts val="1000"/>
              </a:spcBef>
              <a:defRPr sz="1600" b="1" i="1">
                <a:solidFill>
                  <a:srgbClr val="28282D"/>
                </a:solidFill>
              </a:defRPr>
            </a:pPr>
            <a:r>
              <a:t>• Detected 1,534 exact duplicate records.</a:t>
            </a:r>
          </a:p>
          <a:p>
            <a:pPr>
              <a:spcBef>
                <a:spcPts val="1000"/>
              </a:spcBef>
              <a:defRPr sz="1600" b="1" i="1">
                <a:solidFill>
                  <a:srgbClr val="28282D"/>
                </a:solidFill>
              </a:defRPr>
            </a:pPr>
            <a:r>
              <a:t>• Removed duplicates using drop_duplicates().</a:t>
            </a:r>
          </a:p>
          <a:p>
            <a:pPr>
              <a:spcBef>
                <a:spcPts val="1000"/>
              </a:spcBef>
              <a:defRPr sz="1600" b="1" i="1">
                <a:solidFill>
                  <a:srgbClr val="28282D"/>
                </a:solidFill>
              </a:defRPr>
            </a:pPr>
            <a:r>
              <a:t>• Saved the cleaned dataset as student_performance_cleaned.csv.</a:t>
            </a:r>
          </a:p>
          <a:p>
            <a:pPr>
              <a:spcBef>
                <a:spcPts val="1000"/>
              </a:spcBef>
              <a:defRPr sz="1600" b="1" i="1">
                <a:solidFill>
                  <a:srgbClr val="28282D"/>
                </a:solidFill>
              </a:defRPr>
            </a:pPr>
            <a:r>
              <a:t>• Final analysis dataset: 12,469 × 16.</a:t>
            </a:r>
          </a:p>
        </p:txBody>
      </p:sp>
      <p:pic>
        <p:nvPicPr>
          <p:cNvPr id="187" name="image1.png" descr="image1.png"/>
          <p:cNvPicPr>
            <a:picLocks noChangeAspect="1"/>
          </p:cNvPicPr>
          <p:nvPr/>
        </p:nvPicPr>
        <p:blipFill>
          <a:blip r:embed="rId2"/>
          <a:stretch>
            <a:fillRect/>
          </a:stretch>
        </p:blipFill>
        <p:spPr>
          <a:xfrm>
            <a:off x="3682603" y="887563"/>
            <a:ext cx="4814004" cy="2888403"/>
          </a:xfrm>
          <a:prstGeom prst="rect">
            <a:avLst/>
          </a:prstGeom>
          <a:ln w="25400">
            <a:solidFill>
              <a:srgbClr val="DDDDDD"/>
            </a:solidFill>
            <a:miter lim="400000"/>
          </a:ln>
        </p:spPr>
      </p:pic>
      <p:sp>
        <p:nvSpPr>
          <p:cNvPr id="188" name="TextBox 5"/>
          <p:cNvSpPr txBox="1"/>
          <p:nvPr/>
        </p:nvSpPr>
        <p:spPr>
          <a:xfrm>
            <a:off x="11405088" y="6446520"/>
            <a:ext cx="162072"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900">
                <a:solidFill>
                  <a:srgbClr val="5F6978"/>
                </a:solidFill>
              </a:defRPr>
            </a:lvl1pPr>
          </a:lstStyle>
          <a:p>
            <a:r>
              <a:t>6</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TextBox 1"/>
          <p:cNvSpPr txBox="1"/>
          <p:nvPr/>
        </p:nvSpPr>
        <p:spPr>
          <a:xfrm>
            <a:off x="548639" y="228600"/>
            <a:ext cx="3733055" cy="434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700" b="1" u="sng">
                <a:solidFill>
                  <a:srgbClr val="193255"/>
                </a:solidFill>
              </a:defRPr>
            </a:lvl1pPr>
          </a:lstStyle>
          <a:p>
            <a:r>
              <a:t>Exploratory Data Analysis</a:t>
            </a:r>
          </a:p>
        </p:txBody>
      </p:sp>
      <p:sp>
        <p:nvSpPr>
          <p:cNvPr id="191" name="Rectangle 2"/>
          <p:cNvSpPr/>
          <p:nvPr/>
        </p:nvSpPr>
        <p:spPr>
          <a:xfrm>
            <a:off x="511809" y="716822"/>
            <a:ext cx="11155682" cy="27433"/>
          </a:xfrm>
          <a:prstGeom prst="rect">
            <a:avLst/>
          </a:prstGeom>
          <a:solidFill>
            <a:srgbClr val="DCE2E8"/>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92" name="Picture 3" descr="Picture 3"/>
          <p:cNvPicPr>
            <a:picLocks noChangeAspect="1"/>
          </p:cNvPicPr>
          <p:nvPr/>
        </p:nvPicPr>
        <p:blipFill>
          <a:blip r:embed="rId2"/>
          <a:stretch>
            <a:fillRect/>
          </a:stretch>
        </p:blipFill>
        <p:spPr>
          <a:xfrm>
            <a:off x="208124" y="797615"/>
            <a:ext cx="3657601" cy="2194561"/>
          </a:xfrm>
          <a:prstGeom prst="rect">
            <a:avLst/>
          </a:prstGeom>
          <a:ln w="12700">
            <a:miter lim="400000"/>
          </a:ln>
        </p:spPr>
      </p:pic>
      <p:pic>
        <p:nvPicPr>
          <p:cNvPr id="193" name="Picture 4" descr="Picture 4"/>
          <p:cNvPicPr>
            <a:picLocks noChangeAspect="1"/>
          </p:cNvPicPr>
          <p:nvPr/>
        </p:nvPicPr>
        <p:blipFill>
          <a:blip r:embed="rId3"/>
          <a:stretch>
            <a:fillRect/>
          </a:stretch>
        </p:blipFill>
        <p:spPr>
          <a:xfrm>
            <a:off x="3993445" y="797615"/>
            <a:ext cx="3657601" cy="2194561"/>
          </a:xfrm>
          <a:prstGeom prst="rect">
            <a:avLst/>
          </a:prstGeom>
          <a:ln w="12700">
            <a:miter lim="400000"/>
          </a:ln>
        </p:spPr>
      </p:pic>
      <p:pic>
        <p:nvPicPr>
          <p:cNvPr id="194" name="Picture 5" descr="Picture 5"/>
          <p:cNvPicPr>
            <a:picLocks noChangeAspect="1"/>
          </p:cNvPicPr>
          <p:nvPr/>
        </p:nvPicPr>
        <p:blipFill>
          <a:blip r:embed="rId4"/>
          <a:stretch>
            <a:fillRect/>
          </a:stretch>
        </p:blipFill>
        <p:spPr>
          <a:xfrm>
            <a:off x="7881763" y="797615"/>
            <a:ext cx="3657601" cy="2235201"/>
          </a:xfrm>
          <a:prstGeom prst="rect">
            <a:avLst/>
          </a:prstGeom>
          <a:ln w="12700">
            <a:miter lim="400000"/>
          </a:ln>
        </p:spPr>
      </p:pic>
      <p:sp>
        <p:nvSpPr>
          <p:cNvPr id="195" name="TextBox 6"/>
          <p:cNvSpPr txBox="1"/>
          <p:nvPr/>
        </p:nvSpPr>
        <p:spPr>
          <a:xfrm>
            <a:off x="932433" y="3790690"/>
            <a:ext cx="10314434" cy="16455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p>
            <a:pPr marL="150394" indent="-150394">
              <a:spcBef>
                <a:spcPts val="1000"/>
              </a:spcBef>
              <a:buSzPct val="100000"/>
              <a:buChar char="•"/>
              <a:defRPr sz="1500">
                <a:solidFill>
                  <a:srgbClr val="28282D"/>
                </a:solidFill>
              </a:defRPr>
            </a:pPr>
            <a:r>
              <a:rPr b="1" u="sng"/>
              <a:t>Average ExamScore: </a:t>
            </a:r>
            <a:r>
              <a:rPr b="1" i="1"/>
              <a:t>70.31</a:t>
            </a:r>
          </a:p>
          <a:p>
            <a:pPr marL="150394" indent="-150394">
              <a:spcBef>
                <a:spcPts val="1000"/>
              </a:spcBef>
              <a:buSzPct val="100000"/>
              <a:buChar char="•"/>
              <a:defRPr sz="1500">
                <a:solidFill>
                  <a:srgbClr val="28282D"/>
                </a:solidFill>
              </a:defRPr>
            </a:pPr>
            <a:r>
              <a:rPr b="1" u="sng"/>
              <a:t>StudyHours mean</a:t>
            </a:r>
            <a:r>
              <a:t>: </a:t>
            </a:r>
            <a:r>
              <a:rPr b="1" i="1"/>
              <a:t>20.03</a:t>
            </a:r>
          </a:p>
          <a:p>
            <a:pPr marL="150394" indent="-150394">
              <a:spcBef>
                <a:spcPts val="1000"/>
              </a:spcBef>
              <a:buSzPct val="100000"/>
              <a:buChar char="•"/>
              <a:defRPr sz="1500">
                <a:solidFill>
                  <a:srgbClr val="28282D"/>
                </a:solidFill>
              </a:defRPr>
            </a:pPr>
            <a:r>
              <a:rPr b="1" u="sng"/>
              <a:t>Attendance mean</a:t>
            </a:r>
            <a:r>
              <a:t>: </a:t>
            </a:r>
            <a:r>
              <a:rPr b="1" i="1"/>
              <a:t>80.24</a:t>
            </a:r>
          </a:p>
          <a:p>
            <a:pPr marL="150394" indent="-150394">
              <a:spcBef>
                <a:spcPts val="1000"/>
              </a:spcBef>
              <a:buSzPct val="100000"/>
              <a:buChar char="•"/>
              <a:defRPr sz="1500">
                <a:solidFill>
                  <a:srgbClr val="28282D"/>
                </a:solidFill>
              </a:defRPr>
            </a:pPr>
            <a:r>
              <a:rPr b="1" u="sng"/>
              <a:t>AssignmentCompletion mean</a:t>
            </a:r>
            <a:r>
              <a:t>: </a:t>
            </a:r>
            <a:r>
              <a:rPr b="1" i="1"/>
              <a:t>74.52</a:t>
            </a:r>
          </a:p>
          <a:p>
            <a:pPr>
              <a:spcBef>
                <a:spcPts val="1000"/>
              </a:spcBef>
              <a:defRPr sz="1500" b="1">
                <a:solidFill>
                  <a:srgbClr val="28282D"/>
                </a:solidFill>
              </a:defRPr>
            </a:pPr>
            <a:r>
              <a:t>• Visual inspection suggests weak linear relationships for several variables.</a:t>
            </a:r>
          </a:p>
        </p:txBody>
      </p:sp>
      <p:sp>
        <p:nvSpPr>
          <p:cNvPr id="196" name="TextBox 7"/>
          <p:cNvSpPr txBox="1"/>
          <p:nvPr/>
        </p:nvSpPr>
        <p:spPr>
          <a:xfrm>
            <a:off x="11405088" y="6446520"/>
            <a:ext cx="162072"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900">
                <a:solidFill>
                  <a:srgbClr val="5F6978"/>
                </a:solidFill>
              </a:defRPr>
            </a:lvl1pPr>
          </a:lstStyle>
          <a:p>
            <a:r>
              <a:t>7</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TextBox 1"/>
          <p:cNvSpPr txBox="1"/>
          <p:nvPr/>
        </p:nvSpPr>
        <p:spPr>
          <a:xfrm>
            <a:off x="535939" y="355600"/>
            <a:ext cx="2945121" cy="434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700" b="1" u="sng">
                <a:solidFill>
                  <a:srgbClr val="193255"/>
                </a:solidFill>
              </a:defRPr>
            </a:lvl1pPr>
          </a:lstStyle>
          <a:p>
            <a:r>
              <a:t>Correlation Analysis</a:t>
            </a:r>
          </a:p>
        </p:txBody>
      </p:sp>
      <p:sp>
        <p:nvSpPr>
          <p:cNvPr id="199" name="Rectangle 2"/>
          <p:cNvSpPr/>
          <p:nvPr/>
        </p:nvSpPr>
        <p:spPr>
          <a:xfrm>
            <a:off x="322676" y="974517"/>
            <a:ext cx="11155681" cy="27433"/>
          </a:xfrm>
          <a:prstGeom prst="rect">
            <a:avLst/>
          </a:prstGeom>
          <a:solidFill>
            <a:srgbClr val="DCE2E8"/>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200" name="Picture 3" descr="Picture 3"/>
          <p:cNvPicPr>
            <a:picLocks noChangeAspect="1"/>
          </p:cNvPicPr>
          <p:nvPr/>
        </p:nvPicPr>
        <p:blipFill>
          <a:blip r:embed="rId2"/>
          <a:stretch>
            <a:fillRect/>
          </a:stretch>
        </p:blipFill>
        <p:spPr>
          <a:xfrm>
            <a:off x="40755" y="1313005"/>
            <a:ext cx="6583681" cy="4702630"/>
          </a:xfrm>
          <a:prstGeom prst="rect">
            <a:avLst/>
          </a:prstGeom>
          <a:ln w="12700">
            <a:miter lim="400000"/>
          </a:ln>
        </p:spPr>
      </p:pic>
      <p:sp>
        <p:nvSpPr>
          <p:cNvPr id="201" name="Rounded Rectangle 4"/>
          <p:cNvSpPr/>
          <p:nvPr/>
        </p:nvSpPr>
        <p:spPr>
          <a:xfrm>
            <a:off x="7465234" y="2534363"/>
            <a:ext cx="4304633" cy="2259914"/>
          </a:xfrm>
          <a:prstGeom prst="roundRect">
            <a:avLst>
              <a:gd name="adj" fmla="val 29335"/>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02" name="Rectangle 5"/>
          <p:cNvSpPr/>
          <p:nvPr/>
        </p:nvSpPr>
        <p:spPr>
          <a:xfrm>
            <a:off x="7413120" y="2449500"/>
            <a:ext cx="39241" cy="2429640"/>
          </a:xfrm>
          <a:prstGeom prst="rect">
            <a:avLst/>
          </a:prstGeom>
          <a:solidFill>
            <a:srgbClr val="7D5ABE"/>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03" name="TextBox 6"/>
          <p:cNvSpPr txBox="1"/>
          <p:nvPr/>
        </p:nvSpPr>
        <p:spPr>
          <a:xfrm>
            <a:off x="8651962" y="2654957"/>
            <a:ext cx="1594283"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u="sng">
                <a:solidFill>
                  <a:srgbClr val="193255"/>
                </a:solidFill>
              </a:defRPr>
            </a:lvl1pPr>
          </a:lstStyle>
          <a:p>
            <a:r>
              <a:t>Selected results</a:t>
            </a:r>
          </a:p>
        </p:txBody>
      </p:sp>
      <p:sp>
        <p:nvSpPr>
          <p:cNvPr id="204" name="TextBox 7"/>
          <p:cNvSpPr txBox="1"/>
          <p:nvPr/>
        </p:nvSpPr>
        <p:spPr>
          <a:xfrm>
            <a:off x="8046859" y="3116252"/>
            <a:ext cx="3566159" cy="1423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1400">
                <a:solidFill>
                  <a:srgbClr val="28282D"/>
                </a:solidFill>
              </a:defRPr>
            </a:pPr>
            <a:r>
              <a:rPr b="1"/>
              <a:t>StressLevel</a:t>
            </a:r>
            <a:r>
              <a:t>: r = −</a:t>
            </a:r>
            <a:r>
              <a:rPr b="1" i="1"/>
              <a:t>0.0343</a:t>
            </a:r>
            <a:r>
              <a:t>, p &lt; </a:t>
            </a:r>
            <a:r>
              <a:rPr b="1" i="1"/>
              <a:t>0.001</a:t>
            </a:r>
            <a:br/>
            <a:r>
              <a:rPr b="1"/>
              <a:t>Discussions:</a:t>
            </a:r>
            <a:r>
              <a:t> r = −</a:t>
            </a:r>
            <a:r>
              <a:rPr b="1" i="1"/>
              <a:t>0.0312</a:t>
            </a:r>
            <a:r>
              <a:t>, p = </a:t>
            </a:r>
            <a:r>
              <a:rPr b="1" i="1"/>
              <a:t>0.0005</a:t>
            </a:r>
            <a:br/>
            <a:r>
              <a:rPr b="1"/>
              <a:t>AssignmentCompletion</a:t>
            </a:r>
            <a:r>
              <a:t>: r = +</a:t>
            </a:r>
            <a:r>
              <a:rPr b="1" i="1"/>
              <a:t>0.0274</a:t>
            </a:r>
            <a:r>
              <a:t>, p = </a:t>
            </a:r>
            <a:r>
              <a:rPr b="1" i="1"/>
              <a:t>0.0022</a:t>
            </a:r>
            <a:br/>
            <a:r>
              <a:rPr b="1"/>
              <a:t>OnlineCourses</a:t>
            </a:r>
            <a:r>
              <a:t>: r = +</a:t>
            </a:r>
            <a:r>
              <a:rPr b="1" i="1"/>
              <a:t>0.0207</a:t>
            </a:r>
            <a:r>
              <a:t>, p = </a:t>
            </a:r>
            <a:r>
              <a:rPr b="1" i="1"/>
              <a:t>0.0209</a:t>
            </a:r>
            <a:br/>
            <a:r>
              <a:rPr b="1"/>
              <a:t>StudyHours</a:t>
            </a:r>
            <a:r>
              <a:t>: r = +</a:t>
            </a:r>
            <a:r>
              <a:rPr b="1" i="1"/>
              <a:t>0.0042</a:t>
            </a:r>
            <a:r>
              <a:t>, p = </a:t>
            </a:r>
            <a:r>
              <a:rPr b="1" i="1"/>
              <a:t>0.6390</a:t>
            </a:r>
            <a:br/>
            <a:r>
              <a:rPr b="1"/>
              <a:t>Attendance:</a:t>
            </a:r>
            <a:r>
              <a:t> r = −</a:t>
            </a:r>
            <a:r>
              <a:rPr b="1" i="1"/>
              <a:t>0.0142</a:t>
            </a:r>
            <a:r>
              <a:t>, p = </a:t>
            </a:r>
            <a:r>
              <a:rPr b="1" i="1"/>
              <a:t>0.1140</a:t>
            </a:r>
          </a:p>
        </p:txBody>
      </p:sp>
      <p:sp>
        <p:nvSpPr>
          <p:cNvPr id="205" name="TextBox 8"/>
          <p:cNvSpPr txBox="1"/>
          <p:nvPr/>
        </p:nvSpPr>
        <p:spPr>
          <a:xfrm>
            <a:off x="11405088" y="6446520"/>
            <a:ext cx="162072"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900">
                <a:solidFill>
                  <a:srgbClr val="5F6978"/>
                </a:solidFill>
              </a:defRPr>
            </a:lvl1pPr>
          </a:lstStyle>
          <a:p>
            <a:r>
              <a:t>8</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TextBox 1"/>
          <p:cNvSpPr txBox="1"/>
          <p:nvPr/>
        </p:nvSpPr>
        <p:spPr>
          <a:xfrm>
            <a:off x="548639" y="228600"/>
            <a:ext cx="2722772" cy="434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700" b="1" u="sng">
                <a:solidFill>
                  <a:srgbClr val="193255"/>
                </a:solidFill>
              </a:defRPr>
            </a:lvl1pPr>
          </a:lstStyle>
          <a:p>
            <a:r>
              <a:t>Statistical Analysis</a:t>
            </a:r>
          </a:p>
        </p:txBody>
      </p:sp>
      <p:sp>
        <p:nvSpPr>
          <p:cNvPr id="208" name="Rectangle 2"/>
          <p:cNvSpPr/>
          <p:nvPr/>
        </p:nvSpPr>
        <p:spPr>
          <a:xfrm>
            <a:off x="511809" y="761047"/>
            <a:ext cx="11155682" cy="27433"/>
          </a:xfrm>
          <a:prstGeom prst="rect">
            <a:avLst/>
          </a:prstGeom>
          <a:solidFill>
            <a:srgbClr val="DCE2E8"/>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209" name="Picture 3" descr="Picture 3"/>
          <p:cNvPicPr>
            <a:picLocks noChangeAspect="1"/>
          </p:cNvPicPr>
          <p:nvPr/>
        </p:nvPicPr>
        <p:blipFill>
          <a:blip r:embed="rId2"/>
          <a:stretch>
            <a:fillRect/>
          </a:stretch>
        </p:blipFill>
        <p:spPr>
          <a:xfrm>
            <a:off x="3573793" y="1000462"/>
            <a:ext cx="4572001" cy="2813539"/>
          </a:xfrm>
          <a:prstGeom prst="rect">
            <a:avLst/>
          </a:prstGeom>
          <a:ln w="12700">
            <a:miter lim="400000"/>
          </a:ln>
        </p:spPr>
      </p:pic>
      <p:sp>
        <p:nvSpPr>
          <p:cNvPr id="210" name="Rounded Rectangle 4"/>
          <p:cNvSpPr/>
          <p:nvPr/>
        </p:nvSpPr>
        <p:spPr>
          <a:xfrm>
            <a:off x="265121" y="4112005"/>
            <a:ext cx="3289809" cy="1702474"/>
          </a:xfrm>
          <a:prstGeom prst="roundRect">
            <a:avLst>
              <a:gd name="adj" fmla="val 16261"/>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11" name="Rectangle 5"/>
          <p:cNvSpPr/>
          <p:nvPr/>
        </p:nvSpPr>
        <p:spPr>
          <a:xfrm>
            <a:off x="213623" y="4025982"/>
            <a:ext cx="64009" cy="1874519"/>
          </a:xfrm>
          <a:prstGeom prst="rect">
            <a:avLst/>
          </a:prstGeom>
          <a:solidFill>
            <a:srgbClr val="CD5050"/>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12" name="TextBox 6"/>
          <p:cNvSpPr txBox="1"/>
          <p:nvPr/>
        </p:nvSpPr>
        <p:spPr>
          <a:xfrm>
            <a:off x="800624" y="4283090"/>
            <a:ext cx="2218803" cy="333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a:solidFill>
                  <a:srgbClr val="193255"/>
                </a:solidFill>
              </a:defRPr>
            </a:lvl1pPr>
          </a:lstStyle>
          <a:p>
            <a:r>
              <a:t>Stress Level — ANOVA</a:t>
            </a:r>
          </a:p>
        </p:txBody>
      </p:sp>
      <p:sp>
        <p:nvSpPr>
          <p:cNvPr id="213" name="TextBox 7"/>
          <p:cNvSpPr txBox="1"/>
          <p:nvPr/>
        </p:nvSpPr>
        <p:spPr>
          <a:xfrm>
            <a:off x="548639" y="4670442"/>
            <a:ext cx="2722772" cy="966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b="1" i="1">
                <a:solidFill>
                  <a:srgbClr val="28282D"/>
                </a:solidFill>
              </a:defRPr>
            </a:lvl1pPr>
          </a:lstStyle>
          <a:p>
            <a:r>
              <a:t>F = 12.984, p &lt; 0.001. The group means differ statistically, but the effect size is very small (η² ≈ 0.0021).</a:t>
            </a:r>
          </a:p>
        </p:txBody>
      </p:sp>
      <p:sp>
        <p:nvSpPr>
          <p:cNvPr id="214" name="Rounded Rectangle 8"/>
          <p:cNvSpPr/>
          <p:nvPr/>
        </p:nvSpPr>
        <p:spPr>
          <a:xfrm>
            <a:off x="4559300" y="4112005"/>
            <a:ext cx="3381189" cy="1744928"/>
          </a:xfrm>
          <a:prstGeom prst="roundRect">
            <a:avLst>
              <a:gd name="adj" fmla="val 16822"/>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15" name="Rectangle 9"/>
          <p:cNvSpPr/>
          <p:nvPr/>
        </p:nvSpPr>
        <p:spPr>
          <a:xfrm>
            <a:off x="4505209" y="4025982"/>
            <a:ext cx="64009" cy="1874519"/>
          </a:xfrm>
          <a:prstGeom prst="rect">
            <a:avLst/>
          </a:prstGeom>
          <a:solidFill>
            <a:srgbClr val="E18C2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16" name="TextBox 10"/>
          <p:cNvSpPr txBox="1"/>
          <p:nvPr/>
        </p:nvSpPr>
        <p:spPr>
          <a:xfrm>
            <a:off x="4832462" y="4283090"/>
            <a:ext cx="2514376" cy="333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a:solidFill>
                  <a:srgbClr val="193255"/>
                </a:solidFill>
              </a:defRPr>
            </a:lvl1pPr>
          </a:lstStyle>
          <a:p>
            <a:r>
              <a:t>Tukey HSD — Stress Level</a:t>
            </a:r>
          </a:p>
        </p:txBody>
      </p:sp>
      <p:sp>
        <p:nvSpPr>
          <p:cNvPr id="217" name="TextBox 11"/>
          <p:cNvSpPr txBox="1"/>
          <p:nvPr/>
        </p:nvSpPr>
        <p:spPr>
          <a:xfrm>
            <a:off x="5028486" y="4615469"/>
            <a:ext cx="5166361" cy="738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1400" b="1" i="1">
                <a:solidFill>
                  <a:srgbClr val="28282D"/>
                </a:solidFill>
              </a:defRPr>
            </a:pPr>
            <a:r>
              <a:t>Level 0 vs 1: significant</a:t>
            </a:r>
            <a:br/>
            <a:r>
              <a:t>Level 0 vs 2: significant</a:t>
            </a:r>
            <a:br/>
            <a:r>
              <a:t>Level 1 vs 2: not significant</a:t>
            </a:r>
          </a:p>
        </p:txBody>
      </p:sp>
      <p:sp>
        <p:nvSpPr>
          <p:cNvPr id="218" name="Rounded Rectangle 12"/>
          <p:cNvSpPr/>
          <p:nvPr/>
        </p:nvSpPr>
        <p:spPr>
          <a:xfrm>
            <a:off x="8510130" y="4090778"/>
            <a:ext cx="3203198" cy="1744928"/>
          </a:xfrm>
          <a:prstGeom prst="roundRect">
            <a:avLst>
              <a:gd name="adj" fmla="val 5200"/>
            </a:avLst>
          </a:prstGeom>
          <a:solidFill>
            <a:srgbClr val="F2F6FA"/>
          </a:solidFill>
          <a:ln>
            <a:solidFill>
              <a:srgbClr val="DCE2E8"/>
            </a:solidFill>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19" name="Rectangle 13"/>
          <p:cNvSpPr/>
          <p:nvPr/>
        </p:nvSpPr>
        <p:spPr>
          <a:xfrm>
            <a:off x="8505367" y="3948343"/>
            <a:ext cx="59607" cy="2072252"/>
          </a:xfrm>
          <a:prstGeom prst="rect">
            <a:avLst/>
          </a:prstGeom>
          <a:solidFill>
            <a:srgbClr val="377DC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20" name="TextBox 14"/>
          <p:cNvSpPr txBox="1"/>
          <p:nvPr/>
        </p:nvSpPr>
        <p:spPr>
          <a:xfrm>
            <a:off x="9108618" y="4283090"/>
            <a:ext cx="1911733" cy="333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a:solidFill>
                  <a:srgbClr val="193255"/>
                </a:solidFill>
              </a:defRPr>
            </a:lvl1pPr>
          </a:lstStyle>
          <a:p>
            <a:r>
              <a:t>Motivation ANOVA</a:t>
            </a:r>
          </a:p>
        </p:txBody>
      </p:sp>
      <p:sp>
        <p:nvSpPr>
          <p:cNvPr id="221" name="TextBox 15"/>
          <p:cNvSpPr txBox="1"/>
          <p:nvPr/>
        </p:nvSpPr>
        <p:spPr>
          <a:xfrm>
            <a:off x="8940096" y="4708542"/>
            <a:ext cx="2514376" cy="509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b="1" i="1">
                <a:solidFill>
                  <a:srgbClr val="28282D"/>
                </a:solidFill>
              </a:defRPr>
            </a:lvl1pPr>
          </a:lstStyle>
          <a:p>
            <a:r>
              <a:t>F = 0.906, p = 0.404 → no significant group difference.</a:t>
            </a:r>
          </a:p>
        </p:txBody>
      </p:sp>
      <p:sp>
        <p:nvSpPr>
          <p:cNvPr id="222" name="TextBox 16"/>
          <p:cNvSpPr txBox="1"/>
          <p:nvPr/>
        </p:nvSpPr>
        <p:spPr>
          <a:xfrm>
            <a:off x="11405088" y="6446520"/>
            <a:ext cx="162072"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900">
                <a:solidFill>
                  <a:srgbClr val="5F6978"/>
                </a:solidFill>
              </a:defRPr>
            </a:lvl1pPr>
          </a:lstStyle>
          <a:p>
            <a:r>
              <a:t>9</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TextBox 1"/>
          <p:cNvSpPr txBox="1"/>
          <p:nvPr/>
        </p:nvSpPr>
        <p:spPr>
          <a:xfrm>
            <a:off x="548639" y="369811"/>
            <a:ext cx="3888096" cy="4348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700" b="1" u="sng">
                <a:solidFill>
                  <a:srgbClr val="193255"/>
                </a:solidFill>
              </a:defRPr>
            </a:lvl1pPr>
          </a:lstStyle>
          <a:p>
            <a:r>
              <a:t>Multiple Linear Regression</a:t>
            </a:r>
          </a:p>
        </p:txBody>
      </p:sp>
      <p:sp>
        <p:nvSpPr>
          <p:cNvPr id="225" name="Rectangle 2"/>
          <p:cNvSpPr/>
          <p:nvPr/>
        </p:nvSpPr>
        <p:spPr>
          <a:xfrm>
            <a:off x="502919" y="1051560"/>
            <a:ext cx="11155682" cy="27433"/>
          </a:xfrm>
          <a:prstGeom prst="rect">
            <a:avLst/>
          </a:prstGeom>
          <a:solidFill>
            <a:srgbClr val="DCE2E8"/>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226" name="Picture 3" descr="Picture 3"/>
          <p:cNvPicPr>
            <a:picLocks noChangeAspect="1"/>
          </p:cNvPicPr>
          <p:nvPr/>
        </p:nvPicPr>
        <p:blipFill>
          <a:blip r:embed="rId2"/>
          <a:stretch>
            <a:fillRect/>
          </a:stretch>
        </p:blipFill>
        <p:spPr>
          <a:xfrm>
            <a:off x="568641" y="1573530"/>
            <a:ext cx="4716781" cy="4716780"/>
          </a:xfrm>
          <a:prstGeom prst="rect">
            <a:avLst/>
          </a:prstGeom>
          <a:ln w="12700">
            <a:miter lim="400000"/>
          </a:ln>
        </p:spPr>
      </p:pic>
      <p:sp>
        <p:nvSpPr>
          <p:cNvPr id="227" name="Rounded Rectangle 4"/>
          <p:cNvSpPr/>
          <p:nvPr/>
        </p:nvSpPr>
        <p:spPr>
          <a:xfrm>
            <a:off x="5499462" y="1331023"/>
            <a:ext cx="1920241" cy="1280161"/>
          </a:xfrm>
          <a:prstGeom prst="roundRect">
            <a:avLst>
              <a:gd name="adj" fmla="val 16667"/>
            </a:avLst>
          </a:prstGeom>
          <a:solidFill>
            <a:srgbClr val="FFFFFF"/>
          </a:solidFill>
          <a:ln>
            <a:solidFill>
              <a:srgbClr val="D7DEE6"/>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28" name="TextBox 5"/>
          <p:cNvSpPr txBox="1"/>
          <p:nvPr/>
        </p:nvSpPr>
        <p:spPr>
          <a:xfrm>
            <a:off x="5909447" y="1527047"/>
            <a:ext cx="1100272" cy="4447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2800" b="1">
                <a:solidFill>
                  <a:srgbClr val="CD5050"/>
                </a:solidFill>
              </a:defRPr>
            </a:lvl1pPr>
          </a:lstStyle>
          <a:p>
            <a:r>
              <a:t>0.0060</a:t>
            </a:r>
          </a:p>
        </p:txBody>
      </p:sp>
      <p:sp>
        <p:nvSpPr>
          <p:cNvPr id="229" name="TextBox 6"/>
          <p:cNvSpPr txBox="1"/>
          <p:nvPr/>
        </p:nvSpPr>
        <p:spPr>
          <a:xfrm>
            <a:off x="6340540" y="1933247"/>
            <a:ext cx="238086"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200">
                <a:solidFill>
                  <a:srgbClr val="5F6978"/>
                </a:solidFill>
              </a:defRPr>
            </a:lvl1pPr>
          </a:lstStyle>
          <a:p>
            <a:r>
              <a:t>R²</a:t>
            </a:r>
          </a:p>
        </p:txBody>
      </p:sp>
      <p:sp>
        <p:nvSpPr>
          <p:cNvPr id="230" name="Rounded Rectangle 7"/>
          <p:cNvSpPr/>
          <p:nvPr/>
        </p:nvSpPr>
        <p:spPr>
          <a:xfrm>
            <a:off x="8597900" y="1331023"/>
            <a:ext cx="1920240" cy="1280161"/>
          </a:xfrm>
          <a:prstGeom prst="roundRect">
            <a:avLst>
              <a:gd name="adj" fmla="val 16667"/>
            </a:avLst>
          </a:prstGeom>
          <a:solidFill>
            <a:srgbClr val="FFFFFF"/>
          </a:solidFill>
          <a:ln>
            <a:solidFill>
              <a:srgbClr val="D7DEE6"/>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31" name="TextBox 8"/>
          <p:cNvSpPr txBox="1"/>
          <p:nvPr/>
        </p:nvSpPr>
        <p:spPr>
          <a:xfrm>
            <a:off x="9097999" y="1527047"/>
            <a:ext cx="920041" cy="4447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2800" b="1">
                <a:solidFill>
                  <a:srgbClr val="E18C2D"/>
                </a:solidFill>
              </a:defRPr>
            </a:lvl1pPr>
          </a:lstStyle>
          <a:p>
            <a:r>
              <a:t>17.69</a:t>
            </a:r>
          </a:p>
        </p:txBody>
      </p:sp>
      <p:sp>
        <p:nvSpPr>
          <p:cNvPr id="232" name="TextBox 9"/>
          <p:cNvSpPr txBox="1"/>
          <p:nvPr/>
        </p:nvSpPr>
        <p:spPr>
          <a:xfrm>
            <a:off x="9327207" y="1933247"/>
            <a:ext cx="461626"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200">
                <a:solidFill>
                  <a:srgbClr val="5F6978"/>
                </a:solidFill>
              </a:defRPr>
            </a:lvl1pPr>
          </a:lstStyle>
          <a:p>
            <a:r>
              <a:t>RMSE</a:t>
            </a:r>
          </a:p>
        </p:txBody>
      </p:sp>
      <p:sp>
        <p:nvSpPr>
          <p:cNvPr id="233" name="Rounded Rectangle 10"/>
          <p:cNvSpPr/>
          <p:nvPr/>
        </p:nvSpPr>
        <p:spPr>
          <a:xfrm>
            <a:off x="8684121" y="2913071"/>
            <a:ext cx="3424149" cy="1686572"/>
          </a:xfrm>
          <a:prstGeom prst="roundRect">
            <a:avLst>
              <a:gd name="adj" fmla="val 16753"/>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34" name="Rectangle 11"/>
          <p:cNvSpPr/>
          <p:nvPr/>
        </p:nvSpPr>
        <p:spPr>
          <a:xfrm>
            <a:off x="8633459" y="2863214"/>
            <a:ext cx="59060" cy="1905909"/>
          </a:xfrm>
          <a:prstGeom prst="rect">
            <a:avLst/>
          </a:prstGeom>
          <a:solidFill>
            <a:srgbClr val="7D5ABE"/>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35" name="TextBox 12"/>
          <p:cNvSpPr txBox="1"/>
          <p:nvPr/>
        </p:nvSpPr>
        <p:spPr>
          <a:xfrm>
            <a:off x="9530905" y="2863214"/>
            <a:ext cx="1442032" cy="333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u="sng">
                <a:solidFill>
                  <a:srgbClr val="193255"/>
                </a:solidFill>
              </a:defRPr>
            </a:lvl1pPr>
          </a:lstStyle>
          <a:p>
            <a:r>
              <a:t>Interpretation</a:t>
            </a:r>
          </a:p>
        </p:txBody>
      </p:sp>
      <p:sp>
        <p:nvSpPr>
          <p:cNvPr id="236" name="TextBox 13"/>
          <p:cNvSpPr txBox="1"/>
          <p:nvPr/>
        </p:nvSpPr>
        <p:spPr>
          <a:xfrm>
            <a:off x="8968908" y="3183490"/>
            <a:ext cx="2854574" cy="10710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300" b="1" i="1">
                <a:solidFill>
                  <a:srgbClr val="28282D"/>
                </a:solidFill>
              </a:defRPr>
            </a:lvl1pPr>
          </a:lstStyle>
          <a:p>
            <a:r>
              <a:t>The model explains approximately 0.6% of the variation in ExamScore. The available behavioral variables therefore have weak overall predictive/explanatory power in this dataset.</a:t>
            </a:r>
          </a:p>
        </p:txBody>
      </p:sp>
      <p:sp>
        <p:nvSpPr>
          <p:cNvPr id="237" name="Rounded Rectangle 14"/>
          <p:cNvSpPr/>
          <p:nvPr/>
        </p:nvSpPr>
        <p:spPr>
          <a:xfrm>
            <a:off x="5572759" y="4901530"/>
            <a:ext cx="3424149" cy="1563668"/>
          </a:xfrm>
          <a:prstGeom prst="roundRect">
            <a:avLst>
              <a:gd name="adj" fmla="val 8235"/>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38" name="Rectangle 15"/>
          <p:cNvSpPr/>
          <p:nvPr/>
        </p:nvSpPr>
        <p:spPr>
          <a:xfrm>
            <a:off x="5561811" y="4792846"/>
            <a:ext cx="37430" cy="1781037"/>
          </a:xfrm>
          <a:prstGeom prst="rect">
            <a:avLst/>
          </a:prstGeom>
          <a:solidFill>
            <a:srgbClr val="377DC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39" name="TextBox 16"/>
          <p:cNvSpPr txBox="1"/>
          <p:nvPr/>
        </p:nvSpPr>
        <p:spPr>
          <a:xfrm>
            <a:off x="6530829" y="5089683"/>
            <a:ext cx="1301723"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u="sng">
                <a:solidFill>
                  <a:srgbClr val="193255"/>
                </a:solidFill>
              </a:defRPr>
            </a:lvl1pPr>
          </a:lstStyle>
          <a:p>
            <a:r>
              <a:t>Model setup</a:t>
            </a:r>
          </a:p>
        </p:txBody>
      </p:sp>
      <p:sp>
        <p:nvSpPr>
          <p:cNvPr id="240" name="TextBox 17"/>
          <p:cNvSpPr txBox="1"/>
          <p:nvPr/>
        </p:nvSpPr>
        <p:spPr>
          <a:xfrm>
            <a:off x="5664199" y="5540907"/>
            <a:ext cx="3657601" cy="509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b="1" i="1">
                <a:solidFill>
                  <a:srgbClr val="28282D"/>
                </a:solidFill>
              </a:defRPr>
            </a:lvl1pPr>
          </a:lstStyle>
          <a:p>
            <a:r>
              <a:t>14 predictors; FinalGrade excluded to avoid outcome leakage.</a:t>
            </a:r>
          </a:p>
        </p:txBody>
      </p:sp>
      <p:sp>
        <p:nvSpPr>
          <p:cNvPr id="241" name="TextBox 18"/>
          <p:cNvSpPr txBox="1"/>
          <p:nvPr/>
        </p:nvSpPr>
        <p:spPr>
          <a:xfrm>
            <a:off x="11347157" y="6446520"/>
            <a:ext cx="220003"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900">
                <a:solidFill>
                  <a:srgbClr val="5F6978"/>
                </a:solidFill>
              </a:defRPr>
            </a:lvl1pPr>
          </a:lstStyle>
          <a:p>
            <a:r>
              <a:t>10</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TextBox 1"/>
          <p:cNvSpPr txBox="1"/>
          <p:nvPr/>
        </p:nvSpPr>
        <p:spPr>
          <a:xfrm>
            <a:off x="548639" y="228600"/>
            <a:ext cx="2996355" cy="434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700" b="1" u="sng">
                <a:solidFill>
                  <a:srgbClr val="193255"/>
                </a:solidFill>
              </a:defRPr>
            </a:lvl1pPr>
          </a:lstStyle>
          <a:p>
            <a:r>
              <a:t>Power BI Dashboard</a:t>
            </a:r>
          </a:p>
        </p:txBody>
      </p:sp>
      <p:sp>
        <p:nvSpPr>
          <p:cNvPr id="244" name="Rectangle 2"/>
          <p:cNvSpPr/>
          <p:nvPr/>
        </p:nvSpPr>
        <p:spPr>
          <a:xfrm>
            <a:off x="502919" y="1051560"/>
            <a:ext cx="11155682" cy="27433"/>
          </a:xfrm>
          <a:prstGeom prst="rect">
            <a:avLst/>
          </a:prstGeom>
          <a:solidFill>
            <a:srgbClr val="DCE2E8"/>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245" name="powerbi dashboard.png" descr="powerbi dashboard.png"/>
          <p:cNvPicPr>
            <a:picLocks noChangeAspect="1"/>
          </p:cNvPicPr>
          <p:nvPr/>
        </p:nvPicPr>
        <p:blipFill>
          <a:blip r:embed="rId2"/>
          <a:srcRect l="6189" r="6189"/>
          <a:stretch>
            <a:fillRect/>
          </a:stretch>
        </p:blipFill>
        <p:spPr>
          <a:xfrm>
            <a:off x="1781578" y="1310188"/>
            <a:ext cx="8200525" cy="5332145"/>
          </a:xfrm>
          <a:prstGeom prst="rect">
            <a:avLst/>
          </a:prstGeom>
          <a:ln w="12700">
            <a:miter lim="400000"/>
          </a:ln>
        </p:spPr>
      </p:pic>
      <p:sp>
        <p:nvSpPr>
          <p:cNvPr id="246" name="TextBox 4"/>
          <p:cNvSpPr txBox="1"/>
          <p:nvPr/>
        </p:nvSpPr>
        <p:spPr>
          <a:xfrm>
            <a:off x="11347157" y="6446520"/>
            <a:ext cx="220003"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900">
                <a:solidFill>
                  <a:srgbClr val="5F6978"/>
                </a:solidFill>
              </a:defRPr>
            </a:lvl1pPr>
          </a:lstStyle>
          <a:p>
            <a:r>
              <a:t>11</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TextBox 1"/>
          <p:cNvSpPr txBox="1"/>
          <p:nvPr/>
        </p:nvSpPr>
        <p:spPr>
          <a:xfrm>
            <a:off x="599439" y="374573"/>
            <a:ext cx="1872052" cy="4348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700" b="1" u="sng">
                <a:solidFill>
                  <a:srgbClr val="193255"/>
                </a:solidFill>
              </a:defRPr>
            </a:lvl1pPr>
          </a:lstStyle>
          <a:p>
            <a:r>
              <a:t>Key Findings</a:t>
            </a:r>
          </a:p>
        </p:txBody>
      </p:sp>
      <p:sp>
        <p:nvSpPr>
          <p:cNvPr id="249" name="Rectangle 2"/>
          <p:cNvSpPr/>
          <p:nvPr/>
        </p:nvSpPr>
        <p:spPr>
          <a:xfrm>
            <a:off x="502919" y="1051560"/>
            <a:ext cx="11155682" cy="27433"/>
          </a:xfrm>
          <a:prstGeom prst="rect">
            <a:avLst/>
          </a:prstGeom>
          <a:solidFill>
            <a:srgbClr val="DCE2E8"/>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50" name="Rounded Rectangle 3"/>
          <p:cNvSpPr/>
          <p:nvPr/>
        </p:nvSpPr>
        <p:spPr>
          <a:xfrm>
            <a:off x="640080" y="1325880"/>
            <a:ext cx="5394960" cy="1417320"/>
          </a:xfrm>
          <a:prstGeom prst="roundRect">
            <a:avLst>
              <a:gd name="adj" fmla="val 16667"/>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51" name="Rectangle 4"/>
          <p:cNvSpPr/>
          <p:nvPr/>
        </p:nvSpPr>
        <p:spPr>
          <a:xfrm>
            <a:off x="640080" y="1325880"/>
            <a:ext cx="64009" cy="1417320"/>
          </a:xfrm>
          <a:prstGeom prst="rect">
            <a:avLst/>
          </a:prstGeom>
          <a:solidFill>
            <a:srgbClr val="377DC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52" name="TextBox 5"/>
          <p:cNvSpPr txBox="1"/>
          <p:nvPr/>
        </p:nvSpPr>
        <p:spPr>
          <a:xfrm>
            <a:off x="2703066" y="1449133"/>
            <a:ext cx="965298"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a:solidFill>
                  <a:srgbClr val="193255"/>
                </a:solidFill>
              </a:defRPr>
            </a:lvl1pPr>
          </a:lstStyle>
          <a:p>
            <a:r>
              <a:t>Finding 1</a:t>
            </a:r>
          </a:p>
        </p:txBody>
      </p:sp>
      <p:sp>
        <p:nvSpPr>
          <p:cNvPr id="253" name="TextBox 6"/>
          <p:cNvSpPr txBox="1"/>
          <p:nvPr/>
        </p:nvSpPr>
        <p:spPr>
          <a:xfrm>
            <a:off x="886966" y="1828800"/>
            <a:ext cx="4983481" cy="5093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1" i="1">
                <a:solidFill>
                  <a:srgbClr val="28282D"/>
                </a:solidFill>
              </a:defRPr>
            </a:lvl1pPr>
          </a:lstStyle>
          <a:p>
            <a:r>
              <a:t>StudyHours and Attendance show very weak linear relationships with ExamScore.</a:t>
            </a:r>
          </a:p>
        </p:txBody>
      </p:sp>
      <p:sp>
        <p:nvSpPr>
          <p:cNvPr id="254" name="Rounded Rectangle 7"/>
          <p:cNvSpPr/>
          <p:nvPr/>
        </p:nvSpPr>
        <p:spPr>
          <a:xfrm>
            <a:off x="640080" y="2926079"/>
            <a:ext cx="5394960" cy="1417321"/>
          </a:xfrm>
          <a:prstGeom prst="roundRect">
            <a:avLst>
              <a:gd name="adj" fmla="val 16667"/>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55" name="Rectangle 8"/>
          <p:cNvSpPr/>
          <p:nvPr/>
        </p:nvSpPr>
        <p:spPr>
          <a:xfrm>
            <a:off x="640080" y="2926079"/>
            <a:ext cx="64009" cy="1417321"/>
          </a:xfrm>
          <a:prstGeom prst="rect">
            <a:avLst/>
          </a:prstGeom>
          <a:solidFill>
            <a:srgbClr val="3F965C"/>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56" name="TextBox 9"/>
          <p:cNvSpPr txBox="1"/>
          <p:nvPr/>
        </p:nvSpPr>
        <p:spPr>
          <a:xfrm>
            <a:off x="2703066" y="2985325"/>
            <a:ext cx="965298"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a:solidFill>
                  <a:srgbClr val="193255"/>
                </a:solidFill>
              </a:defRPr>
            </a:lvl1pPr>
          </a:lstStyle>
          <a:p>
            <a:r>
              <a:t>Finding 2</a:t>
            </a:r>
          </a:p>
        </p:txBody>
      </p:sp>
      <p:sp>
        <p:nvSpPr>
          <p:cNvPr id="257" name="TextBox 10"/>
          <p:cNvSpPr txBox="1"/>
          <p:nvPr/>
        </p:nvSpPr>
        <p:spPr>
          <a:xfrm>
            <a:off x="886966" y="3429000"/>
            <a:ext cx="4983481" cy="737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1" i="1">
                <a:solidFill>
                  <a:srgbClr val="28282D"/>
                </a:solidFill>
              </a:defRPr>
            </a:lvl1pPr>
          </a:lstStyle>
          <a:p>
            <a:r>
              <a:t>AssignmentCompletion, Discussions and StressLevel have statistically significant associations with ExamScore, but effect sizes are small.</a:t>
            </a:r>
          </a:p>
        </p:txBody>
      </p:sp>
      <p:sp>
        <p:nvSpPr>
          <p:cNvPr id="258" name="Rounded Rectangle 11"/>
          <p:cNvSpPr/>
          <p:nvPr/>
        </p:nvSpPr>
        <p:spPr>
          <a:xfrm>
            <a:off x="640080" y="4526279"/>
            <a:ext cx="5394960" cy="1417321"/>
          </a:xfrm>
          <a:prstGeom prst="roundRect">
            <a:avLst>
              <a:gd name="adj" fmla="val 16667"/>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59" name="Rectangle 12"/>
          <p:cNvSpPr/>
          <p:nvPr/>
        </p:nvSpPr>
        <p:spPr>
          <a:xfrm>
            <a:off x="640080" y="4526279"/>
            <a:ext cx="64009" cy="1417321"/>
          </a:xfrm>
          <a:prstGeom prst="rect">
            <a:avLst/>
          </a:prstGeom>
          <a:solidFill>
            <a:srgbClr val="CD5050"/>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60" name="TextBox 13"/>
          <p:cNvSpPr txBox="1"/>
          <p:nvPr/>
        </p:nvSpPr>
        <p:spPr>
          <a:xfrm>
            <a:off x="2703066" y="4645152"/>
            <a:ext cx="965298"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a:solidFill>
                  <a:srgbClr val="193255"/>
                </a:solidFill>
              </a:defRPr>
            </a:lvl1pPr>
          </a:lstStyle>
          <a:p>
            <a:r>
              <a:t>Finding 3</a:t>
            </a:r>
          </a:p>
        </p:txBody>
      </p:sp>
      <p:sp>
        <p:nvSpPr>
          <p:cNvPr id="261" name="TextBox 14"/>
          <p:cNvSpPr txBox="1"/>
          <p:nvPr/>
        </p:nvSpPr>
        <p:spPr>
          <a:xfrm>
            <a:off x="886966" y="5029200"/>
            <a:ext cx="4983481" cy="5093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1" i="1">
                <a:solidFill>
                  <a:srgbClr val="28282D"/>
                </a:solidFill>
              </a:defRPr>
            </a:lvl1pPr>
          </a:lstStyle>
          <a:p>
            <a:r>
              <a:t>Stress groups differ significantly in mean ExamScore; motivation groups do not.</a:t>
            </a:r>
          </a:p>
        </p:txBody>
      </p:sp>
      <p:sp>
        <p:nvSpPr>
          <p:cNvPr id="262" name="Rounded Rectangle 15"/>
          <p:cNvSpPr/>
          <p:nvPr/>
        </p:nvSpPr>
        <p:spPr>
          <a:xfrm>
            <a:off x="6172200" y="1325880"/>
            <a:ext cx="5394960" cy="1417320"/>
          </a:xfrm>
          <a:prstGeom prst="roundRect">
            <a:avLst>
              <a:gd name="adj" fmla="val 16667"/>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63" name="Rectangle 16"/>
          <p:cNvSpPr/>
          <p:nvPr/>
        </p:nvSpPr>
        <p:spPr>
          <a:xfrm>
            <a:off x="6172200" y="1325880"/>
            <a:ext cx="64008" cy="1417320"/>
          </a:xfrm>
          <a:prstGeom prst="rect">
            <a:avLst/>
          </a:prstGeom>
          <a:solidFill>
            <a:srgbClr val="7D5ABE"/>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64" name="TextBox 17"/>
          <p:cNvSpPr txBox="1"/>
          <p:nvPr/>
        </p:nvSpPr>
        <p:spPr>
          <a:xfrm>
            <a:off x="8273288" y="1444752"/>
            <a:ext cx="965297"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a:solidFill>
                  <a:srgbClr val="193255"/>
                </a:solidFill>
              </a:defRPr>
            </a:lvl1pPr>
          </a:lstStyle>
          <a:p>
            <a:r>
              <a:t>Finding 4</a:t>
            </a:r>
          </a:p>
        </p:txBody>
      </p:sp>
      <p:sp>
        <p:nvSpPr>
          <p:cNvPr id="265" name="TextBox 18"/>
          <p:cNvSpPr txBox="1"/>
          <p:nvPr/>
        </p:nvSpPr>
        <p:spPr>
          <a:xfrm>
            <a:off x="6537960" y="1828800"/>
            <a:ext cx="4983481" cy="5093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1" i="1">
                <a:solidFill>
                  <a:srgbClr val="28282D"/>
                </a:solidFill>
              </a:defRPr>
            </a:lvl1pPr>
          </a:lstStyle>
          <a:p>
            <a:r>
              <a:t>The regression model has weak predictive performance (R² ≈ 0.006).</a:t>
            </a:r>
          </a:p>
        </p:txBody>
      </p:sp>
      <p:sp>
        <p:nvSpPr>
          <p:cNvPr id="266" name="Rounded Rectangle 19"/>
          <p:cNvSpPr/>
          <p:nvPr/>
        </p:nvSpPr>
        <p:spPr>
          <a:xfrm>
            <a:off x="6172200" y="2926079"/>
            <a:ext cx="5394960" cy="1417321"/>
          </a:xfrm>
          <a:prstGeom prst="roundRect">
            <a:avLst>
              <a:gd name="adj" fmla="val 16667"/>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67" name="Rectangle 20"/>
          <p:cNvSpPr/>
          <p:nvPr/>
        </p:nvSpPr>
        <p:spPr>
          <a:xfrm>
            <a:off x="6172200" y="2926079"/>
            <a:ext cx="64008" cy="1417321"/>
          </a:xfrm>
          <a:prstGeom prst="rect">
            <a:avLst/>
          </a:prstGeom>
          <a:solidFill>
            <a:srgbClr val="E18C2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68" name="TextBox 21"/>
          <p:cNvSpPr txBox="1"/>
          <p:nvPr/>
        </p:nvSpPr>
        <p:spPr>
          <a:xfrm>
            <a:off x="8428179" y="2985325"/>
            <a:ext cx="965298"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a:solidFill>
                  <a:srgbClr val="193255"/>
                </a:solidFill>
              </a:defRPr>
            </a:lvl1pPr>
          </a:lstStyle>
          <a:p>
            <a:r>
              <a:t>Finding 5</a:t>
            </a:r>
          </a:p>
        </p:txBody>
      </p:sp>
      <p:sp>
        <p:nvSpPr>
          <p:cNvPr id="269" name="TextBox 22"/>
          <p:cNvSpPr txBox="1"/>
          <p:nvPr/>
        </p:nvSpPr>
        <p:spPr>
          <a:xfrm>
            <a:off x="6419088" y="3429000"/>
            <a:ext cx="4983480" cy="5093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1" i="1">
                <a:solidFill>
                  <a:srgbClr val="28282D"/>
                </a:solidFill>
              </a:defRPr>
            </a:lvl1pPr>
          </a:lstStyle>
          <a:p>
            <a:r>
              <a:t>Statistical significance should not be confused with practical importance when effects are very small.</a:t>
            </a:r>
          </a:p>
        </p:txBody>
      </p:sp>
      <p:sp>
        <p:nvSpPr>
          <p:cNvPr id="270" name="Rounded Rectangle 23"/>
          <p:cNvSpPr/>
          <p:nvPr/>
        </p:nvSpPr>
        <p:spPr>
          <a:xfrm>
            <a:off x="6172200" y="4526279"/>
            <a:ext cx="5394960" cy="1417321"/>
          </a:xfrm>
          <a:prstGeom prst="roundRect">
            <a:avLst>
              <a:gd name="adj" fmla="val 16667"/>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71" name="Rectangle 24"/>
          <p:cNvSpPr/>
          <p:nvPr/>
        </p:nvSpPr>
        <p:spPr>
          <a:xfrm>
            <a:off x="6172200" y="4526279"/>
            <a:ext cx="64008" cy="1417321"/>
          </a:xfrm>
          <a:prstGeom prst="rect">
            <a:avLst/>
          </a:prstGeom>
          <a:solidFill>
            <a:srgbClr val="377DCD"/>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72" name="TextBox 25"/>
          <p:cNvSpPr txBox="1"/>
          <p:nvPr/>
        </p:nvSpPr>
        <p:spPr>
          <a:xfrm>
            <a:off x="8387031" y="4522137"/>
            <a:ext cx="965298"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a:solidFill>
                  <a:srgbClr val="193255"/>
                </a:solidFill>
              </a:defRPr>
            </a:lvl1pPr>
          </a:lstStyle>
          <a:p>
            <a:r>
              <a:t>Finding 6</a:t>
            </a:r>
          </a:p>
        </p:txBody>
      </p:sp>
      <p:sp>
        <p:nvSpPr>
          <p:cNvPr id="273" name="TextBox 26"/>
          <p:cNvSpPr txBox="1"/>
          <p:nvPr/>
        </p:nvSpPr>
        <p:spPr>
          <a:xfrm>
            <a:off x="6419088" y="5029200"/>
            <a:ext cx="4983480" cy="5093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400" b="1" i="1">
                <a:solidFill>
                  <a:srgbClr val="28282D"/>
                </a:solidFill>
              </a:defRPr>
            </a:lvl1pPr>
          </a:lstStyle>
          <a:p>
            <a:r>
              <a:t>The analysis supports association-based interpretation, not causal conclusions.</a:t>
            </a:r>
          </a:p>
        </p:txBody>
      </p:sp>
      <p:sp>
        <p:nvSpPr>
          <p:cNvPr id="274" name="TextBox 27"/>
          <p:cNvSpPr txBox="1"/>
          <p:nvPr/>
        </p:nvSpPr>
        <p:spPr>
          <a:xfrm>
            <a:off x="11347157" y="6446520"/>
            <a:ext cx="220003"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900">
                <a:solidFill>
                  <a:srgbClr val="5F6978"/>
                </a:solidFill>
              </a:defRPr>
            </a:lvl1pPr>
          </a:lstStyle>
          <a:p>
            <a:r>
              <a:t>12</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TextBox 1"/>
          <p:cNvSpPr txBox="1"/>
          <p:nvPr/>
        </p:nvSpPr>
        <p:spPr>
          <a:xfrm>
            <a:off x="548639" y="228600"/>
            <a:ext cx="3633935" cy="434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700" b="1">
                <a:solidFill>
                  <a:srgbClr val="193255"/>
                </a:solidFill>
              </a:defRPr>
            </a:lvl1pPr>
          </a:lstStyle>
          <a:p>
            <a:r>
              <a:t>Limitations &amp; Conclusion</a:t>
            </a:r>
          </a:p>
        </p:txBody>
      </p:sp>
      <p:sp>
        <p:nvSpPr>
          <p:cNvPr id="277" name="Rectangle 2"/>
          <p:cNvSpPr/>
          <p:nvPr/>
        </p:nvSpPr>
        <p:spPr>
          <a:xfrm>
            <a:off x="502919" y="1051560"/>
            <a:ext cx="11155682" cy="27433"/>
          </a:xfrm>
          <a:prstGeom prst="rect">
            <a:avLst/>
          </a:prstGeom>
          <a:solidFill>
            <a:srgbClr val="DCE2E8"/>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78" name="Rounded Rectangle 3"/>
          <p:cNvSpPr/>
          <p:nvPr/>
        </p:nvSpPr>
        <p:spPr>
          <a:xfrm>
            <a:off x="640080" y="1325880"/>
            <a:ext cx="5267435" cy="2321997"/>
          </a:xfrm>
          <a:prstGeom prst="roundRect">
            <a:avLst>
              <a:gd name="adj" fmla="val 31023"/>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79" name="Rectangle 4"/>
          <p:cNvSpPr/>
          <p:nvPr/>
        </p:nvSpPr>
        <p:spPr>
          <a:xfrm>
            <a:off x="589280" y="1321117"/>
            <a:ext cx="64009" cy="2331523"/>
          </a:xfrm>
          <a:prstGeom prst="rect">
            <a:avLst/>
          </a:prstGeom>
          <a:solidFill>
            <a:srgbClr val="CD5050"/>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80" name="TextBox 5"/>
          <p:cNvSpPr txBox="1"/>
          <p:nvPr/>
        </p:nvSpPr>
        <p:spPr>
          <a:xfrm>
            <a:off x="2499866" y="1467091"/>
            <a:ext cx="1158961"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u="sng">
                <a:solidFill>
                  <a:srgbClr val="193255"/>
                </a:solidFill>
              </a:defRPr>
            </a:lvl1pPr>
          </a:lstStyle>
          <a:p>
            <a:r>
              <a:t>Limitations</a:t>
            </a:r>
          </a:p>
        </p:txBody>
      </p:sp>
      <p:sp>
        <p:nvSpPr>
          <p:cNvPr id="281" name="TextBox 6"/>
          <p:cNvSpPr txBox="1"/>
          <p:nvPr/>
        </p:nvSpPr>
        <p:spPr>
          <a:xfrm>
            <a:off x="886966" y="1981200"/>
            <a:ext cx="4937761" cy="14237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1400" b="1" i="1">
                <a:solidFill>
                  <a:srgbClr val="28282D"/>
                </a:solidFill>
              </a:defRPr>
            </a:pPr>
            <a:r>
              <a:t>• Dataset is observational and does not establish causality.</a:t>
            </a:r>
            <a:br/>
            <a:r>
              <a:t>• Many relationships are weak.</a:t>
            </a:r>
            <a:br/>
            <a:r>
              <a:t>• Several categorical variables are numerically encoded.</a:t>
            </a:r>
            <a:br/>
            <a:r>
              <a:t>• FinalGrade is strongly tied to ExamScore and was excluded from regression predictors.</a:t>
            </a:r>
            <a:br/>
            <a:r>
              <a:t>• Results depend on the quality and scope of the Kaggle dataset.</a:t>
            </a:r>
          </a:p>
        </p:txBody>
      </p:sp>
      <p:sp>
        <p:nvSpPr>
          <p:cNvPr id="282" name="Rounded Rectangle 7"/>
          <p:cNvSpPr/>
          <p:nvPr/>
        </p:nvSpPr>
        <p:spPr>
          <a:xfrm>
            <a:off x="6063168" y="3015277"/>
            <a:ext cx="5503993" cy="2699723"/>
          </a:xfrm>
          <a:prstGeom prst="roundRect">
            <a:avLst>
              <a:gd name="adj" fmla="val 27097"/>
            </a:avLst>
          </a:prstGeom>
          <a:solidFill>
            <a:srgbClr val="F2F6FA"/>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83" name="Rectangle 8"/>
          <p:cNvSpPr/>
          <p:nvPr/>
        </p:nvSpPr>
        <p:spPr>
          <a:xfrm>
            <a:off x="6058406" y="3015277"/>
            <a:ext cx="64009" cy="2699724"/>
          </a:xfrm>
          <a:prstGeom prst="rect">
            <a:avLst/>
          </a:prstGeom>
          <a:solidFill>
            <a:srgbClr val="3F965C"/>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84" name="TextBox 9"/>
          <p:cNvSpPr txBox="1"/>
          <p:nvPr/>
        </p:nvSpPr>
        <p:spPr>
          <a:xfrm>
            <a:off x="8246121" y="3262456"/>
            <a:ext cx="1138087"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b="1" u="sng">
                <a:solidFill>
                  <a:srgbClr val="193255"/>
                </a:solidFill>
              </a:defRPr>
            </a:lvl1pPr>
          </a:lstStyle>
          <a:p>
            <a:r>
              <a:t>Conclusion</a:t>
            </a:r>
          </a:p>
        </p:txBody>
      </p:sp>
      <p:sp>
        <p:nvSpPr>
          <p:cNvPr id="285" name="TextBox 10"/>
          <p:cNvSpPr txBox="1"/>
          <p:nvPr/>
        </p:nvSpPr>
        <p:spPr>
          <a:xfrm>
            <a:off x="6485971" y="3708400"/>
            <a:ext cx="4937761" cy="16523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b="1" i="1">
                <a:solidFill>
                  <a:srgbClr val="28282D"/>
                </a:solidFill>
              </a:defRPr>
            </a:lvl1pPr>
          </a:lstStyle>
          <a:p>
            <a:r>
              <a:t>The project provides a complete data-analysis pipeline from raw data to dashboard. The cleaned dataset contains 12,469 records. Most examined behavioral factors have weak linear relationships with ExamScore. Stress shows a statistically significant group difference, but the effect is very small. The regression model has low explanatory power, so the dataset alone does not provide a strong prediction of ExamScore.</a:t>
            </a:r>
          </a:p>
        </p:txBody>
      </p:sp>
      <p:sp>
        <p:nvSpPr>
          <p:cNvPr id="286" name="TextBox 11"/>
          <p:cNvSpPr txBox="1"/>
          <p:nvPr/>
        </p:nvSpPr>
        <p:spPr>
          <a:xfrm>
            <a:off x="11347157" y="6446520"/>
            <a:ext cx="220003"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900">
                <a:solidFill>
                  <a:srgbClr val="5F6978"/>
                </a:solidFill>
              </a:defRPr>
            </a:lvl1pPr>
          </a:lstStyle>
          <a:p>
            <a:r>
              <a:t>13</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TextBox 1"/>
          <p:cNvSpPr txBox="1"/>
          <p:nvPr/>
        </p:nvSpPr>
        <p:spPr>
          <a:xfrm>
            <a:off x="548639" y="228600"/>
            <a:ext cx="3955571" cy="434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700" b="1">
                <a:solidFill>
                  <a:srgbClr val="193255"/>
                </a:solidFill>
              </a:defRPr>
            </a:lvl1pPr>
          </a:lstStyle>
          <a:p>
            <a:r>
              <a:t>Project Plan &amp; Deliverables</a:t>
            </a:r>
          </a:p>
        </p:txBody>
      </p:sp>
      <p:sp>
        <p:nvSpPr>
          <p:cNvPr id="289" name="TextBox 2"/>
          <p:cNvSpPr txBox="1"/>
          <p:nvPr/>
        </p:nvSpPr>
        <p:spPr>
          <a:xfrm>
            <a:off x="576071" y="749808"/>
            <a:ext cx="3627870" cy="248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200">
                <a:solidFill>
                  <a:srgbClr val="5F6978"/>
                </a:solidFill>
              </a:defRPr>
            </a:lvl1pPr>
          </a:lstStyle>
          <a:p>
            <a:r>
              <a:t>Project period: 11 September 2026 – 16 September 2026</a:t>
            </a:r>
          </a:p>
        </p:txBody>
      </p:sp>
      <p:sp>
        <p:nvSpPr>
          <p:cNvPr id="290" name="Rectangle 3"/>
          <p:cNvSpPr/>
          <p:nvPr/>
        </p:nvSpPr>
        <p:spPr>
          <a:xfrm>
            <a:off x="502919" y="1051560"/>
            <a:ext cx="11155682" cy="27433"/>
          </a:xfrm>
          <a:prstGeom prst="rect">
            <a:avLst/>
          </a:prstGeom>
          <a:solidFill>
            <a:srgbClr val="DCE2E8"/>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291" name="Picture 4" descr="Picture 4"/>
          <p:cNvPicPr>
            <a:picLocks noChangeAspect="1"/>
          </p:cNvPicPr>
          <p:nvPr/>
        </p:nvPicPr>
        <p:blipFill>
          <a:blip r:embed="rId2"/>
          <a:stretch>
            <a:fillRect/>
          </a:stretch>
        </p:blipFill>
        <p:spPr>
          <a:xfrm>
            <a:off x="548640" y="1234439"/>
            <a:ext cx="11064241" cy="5532122"/>
          </a:xfrm>
          <a:prstGeom prst="rect">
            <a:avLst/>
          </a:prstGeom>
          <a:ln w="12700">
            <a:miter lim="400000"/>
          </a:ln>
        </p:spPr>
      </p:pic>
      <p:sp>
        <p:nvSpPr>
          <p:cNvPr id="292" name="TextBox 5"/>
          <p:cNvSpPr txBox="1"/>
          <p:nvPr/>
        </p:nvSpPr>
        <p:spPr>
          <a:xfrm>
            <a:off x="11347157" y="6446520"/>
            <a:ext cx="220003"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900">
                <a:solidFill>
                  <a:srgbClr val="5F6978"/>
                </a:solidFill>
              </a:defRPr>
            </a:lvl1pPr>
          </a:lstStyle>
          <a:p>
            <a:r>
              <a:t>14</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94" name="Rounded Rectangle 1"/>
          <p:cNvSpPr/>
          <p:nvPr/>
        </p:nvSpPr>
        <p:spPr>
          <a:xfrm>
            <a:off x="685800" y="914400"/>
            <a:ext cx="10835641" cy="4800600"/>
          </a:xfrm>
          <a:prstGeom prst="roundRect">
            <a:avLst>
              <a:gd name="adj" fmla="val 16667"/>
            </a:avLst>
          </a:prstGeom>
          <a:solidFill>
            <a:srgbClr val="FFFFFF"/>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95" name="TextBox 2"/>
          <p:cNvSpPr txBox="1"/>
          <p:nvPr/>
        </p:nvSpPr>
        <p:spPr>
          <a:xfrm>
            <a:off x="4460585" y="1417319"/>
            <a:ext cx="3148910" cy="4546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2900" b="1" u="sng">
                <a:solidFill>
                  <a:srgbClr val="193255"/>
                </a:solidFill>
              </a:defRPr>
            </a:lvl1pPr>
          </a:lstStyle>
          <a:p>
            <a:r>
              <a:t>Project Deliverables</a:t>
            </a:r>
          </a:p>
        </p:txBody>
      </p:sp>
      <p:sp>
        <p:nvSpPr>
          <p:cNvPr id="296" name="TextBox 3"/>
          <p:cNvSpPr txBox="1"/>
          <p:nvPr/>
        </p:nvSpPr>
        <p:spPr>
          <a:xfrm>
            <a:off x="2215388" y="2397251"/>
            <a:ext cx="8485632" cy="23709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p>
            <a:pPr>
              <a:spcBef>
                <a:spcPts val="1000"/>
              </a:spcBef>
              <a:defRPr sz="1900" b="1" i="1">
                <a:solidFill>
                  <a:srgbClr val="28282D"/>
                </a:solidFill>
              </a:defRPr>
            </a:pPr>
            <a:r>
              <a:t>• Cleaned dataset (12,469 records)</a:t>
            </a:r>
          </a:p>
          <a:p>
            <a:pPr>
              <a:spcBef>
                <a:spcPts val="1000"/>
              </a:spcBef>
              <a:defRPr sz="1900" b="1" i="1">
                <a:solidFill>
                  <a:srgbClr val="28282D"/>
                </a:solidFill>
              </a:defRPr>
            </a:pPr>
            <a:r>
              <a:t>• Kaggle analysis notebook</a:t>
            </a:r>
          </a:p>
          <a:p>
            <a:pPr>
              <a:spcBef>
                <a:spcPts val="1000"/>
              </a:spcBef>
              <a:defRPr sz="1900" b="1" i="1">
                <a:solidFill>
                  <a:srgbClr val="28282D"/>
                </a:solidFill>
              </a:defRPr>
            </a:pPr>
            <a:r>
              <a:t>• EDA, correlation, statistical and regression analysis</a:t>
            </a:r>
          </a:p>
          <a:p>
            <a:pPr>
              <a:spcBef>
                <a:spcPts val="1000"/>
              </a:spcBef>
              <a:defRPr sz="1900" b="1" i="1">
                <a:solidFill>
                  <a:srgbClr val="28282D"/>
                </a:solidFill>
              </a:defRPr>
            </a:pPr>
            <a:r>
              <a:t>• Interactive Power BI dashboard</a:t>
            </a:r>
          </a:p>
          <a:p>
            <a:pPr>
              <a:spcBef>
                <a:spcPts val="1000"/>
              </a:spcBef>
              <a:defRPr sz="1900" b="1" i="1">
                <a:solidFill>
                  <a:srgbClr val="28282D"/>
                </a:solidFill>
              </a:defRPr>
            </a:pPr>
            <a:r>
              <a:t>• Project proposal, mindmap and Gantt chart</a:t>
            </a:r>
          </a:p>
          <a:p>
            <a:pPr>
              <a:spcBef>
                <a:spcPts val="1000"/>
              </a:spcBef>
              <a:defRPr sz="1900" b="1" i="1">
                <a:solidFill>
                  <a:srgbClr val="28282D"/>
                </a:solidFill>
              </a:defRPr>
            </a:pPr>
            <a:r>
              <a:t>• Final project report and GitHub repository</a:t>
            </a:r>
          </a:p>
        </p:txBody>
      </p:sp>
      <p:sp>
        <p:nvSpPr>
          <p:cNvPr id="298" name="TextBox 6"/>
          <p:cNvSpPr txBox="1"/>
          <p:nvPr/>
        </p:nvSpPr>
        <p:spPr>
          <a:xfrm>
            <a:off x="11347157" y="6446520"/>
            <a:ext cx="220003"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900">
                <a:solidFill>
                  <a:srgbClr val="5F6978"/>
                </a:solidFill>
              </a:defRPr>
            </a:lvl1pPr>
          </a:lstStyle>
          <a:p>
            <a:r>
              <a:t>15</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5F87F825-CD71-DBDF-8C52-61006FEE0626}"/>
            </a:ext>
          </a:extLst>
        </p:cNvPr>
        <p:cNvGrpSpPr/>
        <p:nvPr/>
      </p:nvGrpSpPr>
      <p:grpSpPr>
        <a:xfrm>
          <a:off x="0" y="0"/>
          <a:ext cx="0" cy="0"/>
          <a:chOff x="0" y="0"/>
          <a:chExt cx="0" cy="0"/>
        </a:xfrm>
      </p:grpSpPr>
      <p:sp>
        <p:nvSpPr>
          <p:cNvPr id="294" name="Rounded Rectangle 1">
            <a:extLst>
              <a:ext uri="{FF2B5EF4-FFF2-40B4-BE49-F238E27FC236}">
                <a16:creationId xmlns:a16="http://schemas.microsoft.com/office/drawing/2014/main" id="{28601510-3C69-ADEC-4F24-DD6663200641}"/>
              </a:ext>
            </a:extLst>
          </p:cNvPr>
          <p:cNvSpPr/>
          <p:nvPr/>
        </p:nvSpPr>
        <p:spPr>
          <a:xfrm>
            <a:off x="738247" y="891093"/>
            <a:ext cx="10835641" cy="4800600"/>
          </a:xfrm>
          <a:prstGeom prst="roundRect">
            <a:avLst>
              <a:gd name="adj" fmla="val 16667"/>
            </a:avLst>
          </a:prstGeom>
          <a:solidFill>
            <a:srgbClr val="FFFFFF"/>
          </a:solidFill>
          <a:ln>
            <a:solidFill>
              <a:srgbClr val="DCE2E8"/>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98" name="TextBox 6">
            <a:extLst>
              <a:ext uri="{FF2B5EF4-FFF2-40B4-BE49-F238E27FC236}">
                <a16:creationId xmlns:a16="http://schemas.microsoft.com/office/drawing/2014/main" id="{B33444CA-107D-0C02-75B5-3ED98BC203DB}"/>
              </a:ext>
            </a:extLst>
          </p:cNvPr>
          <p:cNvSpPr txBox="1"/>
          <p:nvPr/>
        </p:nvSpPr>
        <p:spPr>
          <a:xfrm>
            <a:off x="11347157" y="6446520"/>
            <a:ext cx="220003" cy="2059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r">
              <a:defRPr sz="900">
                <a:solidFill>
                  <a:srgbClr val="5F6978"/>
                </a:solidFill>
              </a:defRPr>
            </a:lvl1pPr>
          </a:lstStyle>
          <a:p>
            <a:r>
              <a:t>15</a:t>
            </a:r>
          </a:p>
        </p:txBody>
      </p:sp>
      <p:sp>
        <p:nvSpPr>
          <p:cNvPr id="2" name="TextBox 1">
            <a:extLst>
              <a:ext uri="{FF2B5EF4-FFF2-40B4-BE49-F238E27FC236}">
                <a16:creationId xmlns:a16="http://schemas.microsoft.com/office/drawing/2014/main" id="{2FB49726-ACA7-8AB5-5401-7C6E463D8E88}"/>
              </a:ext>
            </a:extLst>
          </p:cNvPr>
          <p:cNvSpPr txBox="1"/>
          <p:nvPr/>
        </p:nvSpPr>
        <p:spPr>
          <a:xfrm>
            <a:off x="1203362" y="1331396"/>
            <a:ext cx="7931113" cy="101566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sz="3000" b="1" i="0" u="none" strike="noStrike" baseline="0" dirty="0">
                <a:solidFill>
                  <a:srgbClr val="377DCD"/>
                </a:solidFill>
                <a:latin typeface="Calibri"/>
              </a:rPr>
              <a:t>Thank you</a:t>
            </a:r>
            <a:r>
              <a:rPr sz="3000" b="0" i="0" dirty="0">
                <a:solidFill>
                  <a:srgbClr val="000000"/>
                </a:solidFill>
                <a:latin typeface="Calibri"/>
                <a:ea typeface="Calibri"/>
                <a:cs typeface="Calibri"/>
              </a:rPr>
              <a:t>​</a:t>
            </a:r>
            <a:endParaRPr lang="en-GB" sz="3000" dirty="0"/>
          </a:p>
          <a:p>
            <a:pPr marL="0" marR="0" indent="0" algn="l" defTabSz="457200" rtl="0" fontAlgn="auto" latinLnBrk="0" hangingPunct="0">
              <a:lnSpc>
                <a:spcPct val="100000"/>
              </a:lnSpc>
              <a:spcBef>
                <a:spcPts val="0"/>
              </a:spcBef>
              <a:spcAft>
                <a:spcPts val="0"/>
              </a:spcAft>
              <a:buClrTx/>
              <a:buSzTx/>
              <a:buFontTx/>
              <a:buNone/>
              <a:tabLst/>
            </a:pPr>
            <a:endParaRPr lang="en-GB" sz="3000" b="0" i="0" u="none" strike="noStrike" cap="none" spc="0" normalizeH="0" baseline="0" dirty="0">
              <a:ln>
                <a:noFill/>
              </a:ln>
              <a:solidFill>
                <a:srgbClr val="000000"/>
              </a:solidFill>
              <a:effectLst/>
              <a:uFillTx/>
              <a:latin typeface="+mj-lt"/>
              <a:ea typeface="+mj-ea"/>
              <a:cs typeface="+mj-cs"/>
            </a:endParaRPr>
          </a:p>
        </p:txBody>
      </p:sp>
    </p:spTree>
    <p:extLst>
      <p:ext uri="{BB962C8B-B14F-4D97-AF65-F5344CB8AC3E}">
        <p14:creationId xmlns:p14="http://schemas.microsoft.com/office/powerpoint/2010/main" val="120700527"/>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5</cp:revision>
  <dcterms:modified xsi:type="dcterms:W3CDTF">2026-09-15T23:16:18Z</dcterms:modified>
</cp:coreProperties>
</file>